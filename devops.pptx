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5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05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1048644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01010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1048645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46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1048647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1048589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01010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1048590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91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1048592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1048654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55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56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57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1048658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1048604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05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1048606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2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1048583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10486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486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510225" y="176077"/>
            <a:ext cx="11171548" cy="894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2334003" y="1229482"/>
            <a:ext cx="9152255" cy="4729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01010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://www.skit.ac.in/" TargetMode="Externa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://www.skit.ac.in/" TargetMode="Externa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://www.skit.ac.in/" TargetMode="Externa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://www.skit.ac.in/" TargetMode="Externa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5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4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4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5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4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4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4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4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://www.skit.ac.in/" TargetMode="Externa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://www.skit.ac.in/" TargetMode="Externa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://www.skit.ac.in/" TargetMode="Externa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object 2"/>
          <p:cNvSpPr txBox="1"/>
          <p:nvPr/>
        </p:nvSpPr>
        <p:spPr>
          <a:xfrm>
            <a:off x="8384860" y="4713393"/>
            <a:ext cx="2614930" cy="1421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Submitted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 By: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3000" b="1" spc="-15" baseline="3000" dirty="0">
                <a:latin typeface="Times New Roman" panose="02020603050405020304"/>
                <a:cs typeface="Times New Roman" panose="02020603050405020304"/>
              </a:rPr>
              <a:t>Name:-</a:t>
            </a:r>
            <a:r>
              <a:rPr sz="3000" b="1" spc="-17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Arial MT"/>
                <a:cs typeface="Arial MT"/>
              </a:rPr>
              <a:t>Mahak</a:t>
            </a:r>
            <a:r>
              <a:rPr sz="1800" b="1" spc="-10" dirty="0">
                <a:latin typeface="Arial MT"/>
                <a:cs typeface="Arial MT"/>
              </a:rPr>
              <a:t> Katari</a:t>
            </a:r>
            <a:r>
              <a:rPr sz="2000" b="1" spc="-1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Roll</a:t>
            </a:r>
            <a:r>
              <a:rPr sz="20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No.:-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24ESKCS196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585" name="object 3"/>
          <p:cNvSpPr txBox="1"/>
          <p:nvPr/>
        </p:nvSpPr>
        <p:spPr>
          <a:xfrm>
            <a:off x="1981200" y="316865"/>
            <a:ext cx="8715375" cy="9156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Swami</a:t>
            </a:r>
            <a:r>
              <a:rPr sz="2000" b="1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Keshvanand</a:t>
            </a:r>
            <a:r>
              <a:rPr sz="2000" b="1" spc="-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5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Technology,</a:t>
            </a:r>
            <a:r>
              <a:rPr sz="2000" b="1" spc="-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2000" b="1" spc="-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2000" b="1" spc="-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Gramothan,</a:t>
            </a:r>
            <a:r>
              <a:rPr sz="2000" b="1" spc="-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Jaipur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(An</a:t>
            </a:r>
            <a:r>
              <a:rPr sz="1800" b="1" spc="-11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Autonomous</a:t>
            </a:r>
            <a:r>
              <a:rPr sz="1800" b="1" spc="-5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18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Affiliated</a:t>
            </a:r>
            <a:r>
              <a:rPr sz="1800" b="1" spc="-3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800" b="1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Rajasthan</a:t>
            </a:r>
            <a:r>
              <a:rPr sz="1800" b="1" spc="-5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sz="1800" b="1" spc="-3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University,</a:t>
            </a:r>
            <a:r>
              <a:rPr sz="1800" b="1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Kota)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1680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766060" marR="3022600" algn="l">
              <a:lnSpc>
                <a:spcPct val="100000"/>
              </a:lnSpc>
            </a:pPr>
            <a:r>
              <a:rPr sz="2800" b="1" spc="-10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Industrial</a:t>
            </a:r>
            <a:r>
              <a:rPr sz="2800" b="1" spc="-120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20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Training </a:t>
            </a:r>
            <a:r>
              <a:rPr sz="2800" b="1" spc="-10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Presentation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2766060" marR="3022600" algn="ctr">
              <a:lnSpc>
                <a:spcPct val="100000"/>
              </a:lnSpc>
            </a:pP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2097152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3472" y="174676"/>
            <a:ext cx="1133474" cy="1200149"/>
          </a:xfrm>
          <a:prstGeom prst="rect">
            <a:avLst/>
          </a:prstGeom>
        </p:spPr>
      </p:pic>
      <p:sp>
        <p:nvSpPr>
          <p:cNvPr id="1048586" name="object 5"/>
          <p:cNvSpPr txBox="1"/>
          <p:nvPr/>
        </p:nvSpPr>
        <p:spPr>
          <a:xfrm>
            <a:off x="426497" y="4611830"/>
            <a:ext cx="3254375" cy="12401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Submitted</a:t>
            </a:r>
            <a:r>
              <a:rPr sz="20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To: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33000"/>
              </a:lnSpc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Name:-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Dr.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Meenakshi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Nawal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Ass</a:t>
            </a:r>
            <a:r>
              <a:rPr lang="en-US" altLang="en-US" sz="2000" b="1" dirty="0">
                <a:latin typeface="Times New Roman" panose="02020603050405020304"/>
                <a:cs typeface="Times New Roman" panose="02020603050405020304"/>
              </a:rPr>
              <a:t>ociate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Professor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587" name="object 6"/>
          <p:cNvSpPr txBox="1"/>
          <p:nvPr/>
        </p:nvSpPr>
        <p:spPr>
          <a:xfrm>
            <a:off x="2255400" y="2678534"/>
            <a:ext cx="8035925" cy="143573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5400" u="heavy" baseline="-4000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Arial Black" panose="020B0A04020102020204"/>
                <a:cs typeface="Arial Black" panose="020B0A04020102020204"/>
              </a:rPr>
              <a:t>TOPIC:</a:t>
            </a:r>
            <a:r>
              <a:rPr sz="5400" u="heavy" spc="-202" baseline="-4000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Arial Black" panose="020B0A04020102020204"/>
                <a:cs typeface="Arial Black" panose="020B0A04020102020204"/>
              </a:rPr>
              <a:t> </a:t>
            </a:r>
            <a:r>
              <a:rPr sz="5400" spc="-907" baseline="-4000" dirty="0">
                <a:solidFill>
                  <a:srgbClr val="0F0F0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3600" u="sng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Arial Black" panose="020B0A04020102020204"/>
                <a:cs typeface="Arial Black" panose="020B0A04020102020204"/>
              </a:rPr>
              <a:t>App</a:t>
            </a:r>
            <a:r>
              <a:rPr sz="3600" u="sng" spc="-85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Arial Black" panose="020B0A04020102020204"/>
                <a:cs typeface="Arial Black" panose="020B0A04020102020204"/>
              </a:rPr>
              <a:t> </a:t>
            </a:r>
            <a:r>
              <a:rPr sz="3600" u="sng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Arial Black" panose="020B0A04020102020204"/>
                <a:cs typeface="Arial Black" panose="020B0A04020102020204"/>
              </a:rPr>
              <a:t>Review</a:t>
            </a:r>
            <a:r>
              <a:rPr sz="3600" u="sng" spc="-80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Arial Black" panose="020B0A04020102020204"/>
                <a:cs typeface="Arial Black" panose="020B0A04020102020204"/>
              </a:rPr>
              <a:t> </a:t>
            </a:r>
            <a:r>
              <a:rPr sz="3600" u="sng" spc="-10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Arial Black" panose="020B0A04020102020204"/>
                <a:cs typeface="Arial Black" panose="020B0A04020102020204"/>
              </a:rPr>
              <a:t>Intelligence</a:t>
            </a:r>
            <a:endParaRPr sz="3600">
              <a:latin typeface="Arial Black" panose="020B0A04020102020204"/>
              <a:cs typeface="Arial Black" panose="020B0A04020102020204"/>
            </a:endParaRPr>
          </a:p>
          <a:p>
            <a:pPr marR="1202690" algn="ctr">
              <a:lnSpc>
                <a:spcPct val="100000"/>
              </a:lnSpc>
              <a:spcBef>
                <a:spcPts val="755"/>
              </a:spcBef>
            </a:pPr>
            <a:r>
              <a:rPr sz="3600" u="sng" spc="-5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Arial Black" panose="020B0A04020102020204"/>
                <a:cs typeface="Arial Black" panose="020B0A04020102020204"/>
              </a:rPr>
              <a:t> </a:t>
            </a:r>
            <a:r>
              <a:rPr sz="3600" u="sng" spc="-10" dirty="0">
                <a:solidFill>
                  <a:srgbClr val="0F0F0F"/>
                </a:solidFill>
                <a:uFill>
                  <a:solidFill>
                    <a:srgbClr val="0F0F0F"/>
                  </a:solidFill>
                </a:uFill>
                <a:latin typeface="Arial Black" panose="020B0A04020102020204"/>
                <a:cs typeface="Arial Black" panose="020B0A04020102020204"/>
              </a:rPr>
              <a:t>Assistance</a:t>
            </a:r>
            <a:endParaRPr sz="360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2097153" name="object 7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70907" y="174677"/>
            <a:ext cx="739221" cy="12001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0979" y="218307"/>
            <a:ext cx="9417685" cy="55308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2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Index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594" name="object 3"/>
          <p:cNvSpPr/>
          <p:nvPr/>
        </p:nvSpPr>
        <p:spPr>
          <a:xfrm>
            <a:off x="0" y="6615113"/>
            <a:ext cx="12192000" cy="230504"/>
          </a:xfrm>
          <a:custGeom>
            <a:avLst/>
            <a:gdLst/>
            <a:ahLst/>
            <a:cxnLst/>
            <a:rect l="l" t="t" r="r" b="b"/>
            <a:pathLst>
              <a:path w="12192000" h="230504">
                <a:moveTo>
                  <a:pt x="12191999" y="230186"/>
                </a:moveTo>
                <a:lnTo>
                  <a:pt x="0" y="23018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3018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595" name="object 4"/>
          <p:cNvSpPr txBox="1"/>
          <p:nvPr/>
        </p:nvSpPr>
        <p:spPr>
          <a:xfrm>
            <a:off x="73025" y="6619971"/>
            <a:ext cx="8026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sz="12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596" name="object 5"/>
          <p:cNvSpPr txBox="1"/>
          <p:nvPr/>
        </p:nvSpPr>
        <p:spPr>
          <a:xfrm>
            <a:off x="6686575" y="6619971"/>
            <a:ext cx="9626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2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54" name="object 6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3473" y="174676"/>
            <a:ext cx="1133474" cy="1200149"/>
          </a:xfrm>
          <a:prstGeom prst="rect">
            <a:avLst/>
          </a:prstGeom>
        </p:spPr>
      </p:pic>
      <p:sp>
        <p:nvSpPr>
          <p:cNvPr id="1048597" name="object 7"/>
          <p:cNvSpPr txBox="1"/>
          <p:nvPr/>
        </p:nvSpPr>
        <p:spPr>
          <a:xfrm>
            <a:off x="2384228" y="1051176"/>
            <a:ext cx="3964940" cy="507238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52755" indent="-440055">
              <a:lnSpc>
                <a:spcPct val="100000"/>
              </a:lnSpc>
              <a:spcBef>
                <a:spcPts val="1780"/>
              </a:spcBef>
              <a:buFont typeface="Calibri" panose="020F0502020204030204"/>
              <a:buAutoNum type="arabicPeriod"/>
              <a:tabLst>
                <a:tab pos="452755" algn="l"/>
              </a:tabLst>
            </a:pPr>
            <a:r>
              <a:rPr sz="2800" b="1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Company</a:t>
            </a:r>
            <a:r>
              <a:rPr sz="2800" b="1" spc="-120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Introduction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52755" indent="-4400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pos="452755" algn="l"/>
              </a:tabLst>
            </a:pPr>
            <a:r>
              <a:rPr sz="2800" b="1" spc="-10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Certificate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52755" indent="-4400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pos="452755" algn="l"/>
              </a:tabLst>
            </a:pPr>
            <a:r>
              <a:rPr sz="2800" b="1" spc="-25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r>
              <a:rPr sz="2800" b="1" spc="-120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20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Used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52755" indent="-4400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pos="45275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Goal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Training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52755" indent="-4400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pos="45275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28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Overview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52755" indent="-4400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pos="452755" algn="l"/>
              </a:tabLst>
            </a:pP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Working</a:t>
            </a:r>
            <a:r>
              <a:rPr sz="2800" b="1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Project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52755" indent="-4400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pos="45275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sz="2800" b="1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Scope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52755" indent="-4400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pos="452755" algn="l"/>
              </a:tabLst>
            </a:pPr>
            <a:r>
              <a:rPr sz="2800" b="1" spc="-25" dirty="0">
                <a:latin typeface="Times New Roman" panose="02020603050405020304"/>
                <a:cs typeface="Times New Roman" panose="02020603050405020304"/>
              </a:rPr>
              <a:t>Q&amp;A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1548" y="218363"/>
            <a:ext cx="9420225" cy="55308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2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Company </a:t>
            </a:r>
            <a:r>
              <a:rPr sz="32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Introduction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599" name="object 3"/>
          <p:cNvSpPr/>
          <p:nvPr/>
        </p:nvSpPr>
        <p:spPr>
          <a:xfrm>
            <a:off x="0" y="6616780"/>
            <a:ext cx="12192000" cy="230504"/>
          </a:xfrm>
          <a:custGeom>
            <a:avLst/>
            <a:gdLst/>
            <a:ahLst/>
            <a:cxnLst/>
            <a:rect l="l" t="t" r="r" b="b"/>
            <a:pathLst>
              <a:path w="12192000" h="230504">
                <a:moveTo>
                  <a:pt x="12192000" y="230244"/>
                </a:moveTo>
                <a:lnTo>
                  <a:pt x="0" y="230244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3024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00" name="object 4"/>
          <p:cNvSpPr txBox="1"/>
          <p:nvPr/>
        </p:nvSpPr>
        <p:spPr>
          <a:xfrm>
            <a:off x="73025" y="6619971"/>
            <a:ext cx="8026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sz="12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01" name="object 5"/>
          <p:cNvSpPr txBox="1"/>
          <p:nvPr/>
        </p:nvSpPr>
        <p:spPr>
          <a:xfrm>
            <a:off x="6686575" y="6619971"/>
            <a:ext cx="9626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2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55" name="object 6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3472" y="174676"/>
            <a:ext cx="1133474" cy="1200149"/>
          </a:xfrm>
          <a:prstGeom prst="rect">
            <a:avLst/>
          </a:prstGeom>
        </p:spPr>
      </p:pic>
      <p:sp>
        <p:nvSpPr>
          <p:cNvPr id="1048602" name="object 7"/>
          <p:cNvSpPr txBox="1">
            <a:spLocks noGrp="1"/>
          </p:cNvSpPr>
          <p:nvPr>
            <p:ph type="body" idx="1"/>
          </p:nvPr>
        </p:nvSpPr>
        <p:spPr>
          <a:xfrm>
            <a:off x="2334003" y="1229482"/>
            <a:ext cx="9152255" cy="469392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3050"/>
              </a:lnSpc>
              <a:spcBef>
                <a:spcPts val="360"/>
              </a:spcBef>
            </a:pPr>
            <a:r>
              <a:rPr dirty="0"/>
              <a:t>Tecorb</a:t>
            </a:r>
            <a:r>
              <a:rPr spc="185" dirty="0"/>
              <a:t> </a:t>
            </a:r>
            <a:r>
              <a:rPr spc="-40" dirty="0"/>
              <a:t>Technologies</a:t>
            </a:r>
            <a:r>
              <a:rPr spc="215" dirty="0"/>
              <a:t> </a:t>
            </a:r>
            <a:r>
              <a:rPr b="0" spc="70" dirty="0">
                <a:latin typeface="Arial MT"/>
                <a:cs typeface="Arial MT"/>
              </a:rPr>
              <a:t>is</a:t>
            </a:r>
            <a:r>
              <a:rPr b="0" spc="18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</a:t>
            </a:r>
            <a:r>
              <a:rPr b="0" spc="190" dirty="0">
                <a:latin typeface="Arial MT"/>
                <a:cs typeface="Arial MT"/>
              </a:rPr>
              <a:t> </a:t>
            </a:r>
            <a:r>
              <a:rPr b="0" spc="50" dirty="0">
                <a:latin typeface="Arial MT"/>
                <a:cs typeface="Arial MT"/>
              </a:rPr>
              <a:t>leading</a:t>
            </a:r>
            <a:r>
              <a:rPr b="0" spc="18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AI-</a:t>
            </a:r>
            <a:r>
              <a:rPr b="0" spc="85" dirty="0">
                <a:latin typeface="Arial MT"/>
                <a:cs typeface="Arial MT"/>
              </a:rPr>
              <a:t>driven</a:t>
            </a:r>
            <a:r>
              <a:rPr b="0" spc="185" dirty="0">
                <a:latin typeface="Arial MT"/>
                <a:cs typeface="Arial MT"/>
              </a:rPr>
              <a:t> </a:t>
            </a:r>
            <a:r>
              <a:rPr b="0" spc="200" dirty="0">
                <a:latin typeface="Arial MT"/>
                <a:cs typeface="Arial MT"/>
              </a:rPr>
              <a:t>software </a:t>
            </a:r>
            <a:r>
              <a:rPr b="0" spc="95" dirty="0">
                <a:latin typeface="Arial MT"/>
                <a:cs typeface="Arial MT"/>
              </a:rPr>
              <a:t>development</a:t>
            </a:r>
            <a:r>
              <a:rPr b="0" spc="235" dirty="0">
                <a:latin typeface="Arial MT"/>
                <a:cs typeface="Arial MT"/>
              </a:rPr>
              <a:t> </a:t>
            </a:r>
            <a:r>
              <a:rPr b="0" spc="55" dirty="0">
                <a:latin typeface="Arial MT"/>
                <a:cs typeface="Arial MT"/>
              </a:rPr>
              <a:t>and</a:t>
            </a:r>
            <a:r>
              <a:rPr b="0" spc="2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IT</a:t>
            </a:r>
            <a:r>
              <a:rPr b="0" spc="235" dirty="0">
                <a:latin typeface="Arial MT"/>
                <a:cs typeface="Arial MT"/>
              </a:rPr>
              <a:t> </a:t>
            </a:r>
            <a:r>
              <a:rPr b="0" spc="125" dirty="0">
                <a:latin typeface="Arial MT"/>
                <a:cs typeface="Arial MT"/>
              </a:rPr>
              <a:t>solutions</a:t>
            </a:r>
            <a:r>
              <a:rPr b="0" spc="240" dirty="0">
                <a:latin typeface="Arial MT"/>
                <a:cs typeface="Arial MT"/>
              </a:rPr>
              <a:t> </a:t>
            </a:r>
            <a:r>
              <a:rPr b="0" spc="85" dirty="0">
                <a:latin typeface="Arial MT"/>
                <a:cs typeface="Arial MT"/>
              </a:rPr>
              <a:t>company</a:t>
            </a:r>
            <a:r>
              <a:rPr b="0" spc="240" dirty="0">
                <a:latin typeface="Arial MT"/>
                <a:cs typeface="Arial MT"/>
              </a:rPr>
              <a:t> </a:t>
            </a:r>
            <a:r>
              <a:rPr b="0" spc="90" dirty="0">
                <a:latin typeface="Arial MT"/>
                <a:cs typeface="Arial MT"/>
              </a:rPr>
              <a:t>headquartered </a:t>
            </a:r>
            <a:r>
              <a:rPr b="0" spc="65" dirty="0">
                <a:latin typeface="Arial MT"/>
                <a:cs typeface="Arial MT"/>
              </a:rPr>
              <a:t>in</a:t>
            </a:r>
            <a:r>
              <a:rPr b="0" spc="100" dirty="0">
                <a:latin typeface="Arial MT"/>
                <a:cs typeface="Arial MT"/>
              </a:rPr>
              <a:t> </a:t>
            </a:r>
            <a:r>
              <a:rPr spc="-10" dirty="0"/>
              <a:t>Noida,</a:t>
            </a:r>
            <a:r>
              <a:rPr spc="100" dirty="0"/>
              <a:t> </a:t>
            </a:r>
            <a:r>
              <a:rPr spc="110" dirty="0"/>
              <a:t>Uttar</a:t>
            </a:r>
            <a:r>
              <a:rPr spc="100" dirty="0"/>
              <a:t> </a:t>
            </a:r>
            <a:r>
              <a:rPr dirty="0"/>
              <a:t>Pradesh,</a:t>
            </a:r>
            <a:r>
              <a:rPr spc="100" dirty="0"/>
              <a:t> </a:t>
            </a:r>
            <a:r>
              <a:rPr dirty="0"/>
              <a:t>India</a:t>
            </a:r>
            <a:r>
              <a:rPr b="0" dirty="0">
                <a:latin typeface="Arial MT"/>
                <a:cs typeface="Arial MT"/>
              </a:rPr>
              <a:t>.This</a:t>
            </a:r>
            <a:r>
              <a:rPr b="0" spc="100" dirty="0">
                <a:latin typeface="Arial MT"/>
                <a:cs typeface="Arial MT"/>
              </a:rPr>
              <a:t> </a:t>
            </a:r>
            <a:r>
              <a:rPr b="0" spc="85" dirty="0">
                <a:latin typeface="Arial MT"/>
                <a:cs typeface="Arial MT"/>
              </a:rPr>
              <a:t>company</a:t>
            </a:r>
            <a:r>
              <a:rPr b="0" spc="10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specializes </a:t>
            </a:r>
            <a:r>
              <a:rPr b="0" spc="65" dirty="0">
                <a:latin typeface="Arial MT"/>
                <a:cs typeface="Arial MT"/>
              </a:rPr>
              <a:t>in</a:t>
            </a:r>
            <a:r>
              <a:rPr b="0" spc="140" dirty="0">
                <a:latin typeface="Arial MT"/>
                <a:cs typeface="Arial MT"/>
              </a:rPr>
              <a:t> </a:t>
            </a:r>
            <a:r>
              <a:rPr dirty="0"/>
              <a:t>AI</a:t>
            </a:r>
            <a:r>
              <a:rPr spc="145" dirty="0"/>
              <a:t> </a:t>
            </a:r>
            <a:r>
              <a:rPr dirty="0"/>
              <a:t>&amp;</a:t>
            </a:r>
            <a:r>
              <a:rPr spc="145" dirty="0"/>
              <a:t> </a:t>
            </a:r>
            <a:r>
              <a:rPr dirty="0"/>
              <a:t>ML,</a:t>
            </a:r>
            <a:r>
              <a:rPr spc="145" dirty="0"/>
              <a:t> </a:t>
            </a:r>
            <a:r>
              <a:rPr dirty="0"/>
              <a:t>Generative</a:t>
            </a:r>
            <a:r>
              <a:rPr spc="145" dirty="0"/>
              <a:t> </a:t>
            </a:r>
            <a:r>
              <a:rPr spc="-40" dirty="0"/>
              <a:t>AI,</a:t>
            </a:r>
            <a:r>
              <a:rPr spc="145" dirty="0"/>
              <a:t> </a:t>
            </a:r>
            <a:r>
              <a:rPr dirty="0"/>
              <a:t>Web</a:t>
            </a:r>
            <a:r>
              <a:rPr spc="145" dirty="0"/>
              <a:t> </a:t>
            </a:r>
            <a:r>
              <a:rPr dirty="0"/>
              <a:t>and</a:t>
            </a:r>
            <a:r>
              <a:rPr spc="145" dirty="0"/>
              <a:t> </a:t>
            </a:r>
            <a:r>
              <a:rPr dirty="0"/>
              <a:t>Mobile</a:t>
            </a:r>
            <a:r>
              <a:rPr spc="145" dirty="0"/>
              <a:t> </a:t>
            </a:r>
            <a:r>
              <a:rPr spc="-25" dirty="0"/>
              <a:t>App </a:t>
            </a:r>
            <a:r>
              <a:rPr dirty="0"/>
              <a:t>Development,</a:t>
            </a:r>
            <a:r>
              <a:rPr spc="-10" dirty="0"/>
              <a:t> </a:t>
            </a:r>
            <a:r>
              <a:rPr spc="-20" dirty="0"/>
              <a:t>Cloud</a:t>
            </a:r>
            <a:r>
              <a:rPr spc="-10" dirty="0"/>
              <a:t> </a:t>
            </a:r>
            <a:r>
              <a:rPr spc="-20" dirty="0"/>
              <a:t>Solutions,</a:t>
            </a:r>
            <a:r>
              <a:rPr spc="-10" dirty="0"/>
              <a:t> </a:t>
            </a:r>
            <a:r>
              <a:rPr spc="-45" dirty="0"/>
              <a:t>DevOps,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Custom </a:t>
            </a:r>
            <a:r>
              <a:rPr spc="75" dirty="0"/>
              <a:t>Software</a:t>
            </a:r>
            <a:r>
              <a:rPr spc="285" dirty="0"/>
              <a:t> </a:t>
            </a:r>
            <a:r>
              <a:rPr dirty="0"/>
              <a:t>Development.</a:t>
            </a:r>
            <a:r>
              <a:rPr b="0" dirty="0">
                <a:latin typeface="Arial MT"/>
                <a:cs typeface="Arial MT"/>
              </a:rPr>
              <a:t>Tecorb</a:t>
            </a:r>
            <a:r>
              <a:rPr b="0" spc="285" dirty="0">
                <a:latin typeface="Arial MT"/>
                <a:cs typeface="Arial MT"/>
              </a:rPr>
              <a:t> </a:t>
            </a:r>
            <a:r>
              <a:rPr b="0" spc="120" dirty="0">
                <a:latin typeface="Arial MT"/>
                <a:cs typeface="Arial MT"/>
              </a:rPr>
              <a:t>operates</a:t>
            </a:r>
            <a:r>
              <a:rPr b="0" spc="290" dirty="0">
                <a:latin typeface="Arial MT"/>
                <a:cs typeface="Arial MT"/>
              </a:rPr>
              <a:t> </a:t>
            </a:r>
            <a:r>
              <a:rPr b="0" spc="195" dirty="0">
                <a:latin typeface="Arial MT"/>
                <a:cs typeface="Arial MT"/>
              </a:rPr>
              <a:t>from</a:t>
            </a:r>
            <a:r>
              <a:rPr b="0" spc="285" dirty="0">
                <a:latin typeface="Arial MT"/>
                <a:cs typeface="Arial MT"/>
              </a:rPr>
              <a:t> </a:t>
            </a:r>
            <a:r>
              <a:rPr b="0" spc="210" dirty="0">
                <a:latin typeface="Arial MT"/>
                <a:cs typeface="Arial MT"/>
              </a:rPr>
              <a:t>its</a:t>
            </a:r>
            <a:r>
              <a:rPr b="0" spc="290" dirty="0">
                <a:latin typeface="Arial MT"/>
                <a:cs typeface="Arial MT"/>
              </a:rPr>
              <a:t> </a:t>
            </a:r>
            <a:r>
              <a:rPr b="0" spc="150" dirty="0">
                <a:latin typeface="Arial MT"/>
                <a:cs typeface="Arial MT"/>
              </a:rPr>
              <a:t>office </a:t>
            </a:r>
            <a:r>
              <a:rPr b="0" spc="240" dirty="0">
                <a:latin typeface="Arial MT"/>
                <a:cs typeface="Arial MT"/>
              </a:rPr>
              <a:t>at</a:t>
            </a:r>
            <a:r>
              <a:rPr b="0" spc="170" dirty="0">
                <a:latin typeface="Arial MT"/>
                <a:cs typeface="Arial MT"/>
              </a:rPr>
              <a:t> </a:t>
            </a:r>
            <a:r>
              <a:rPr spc="-30" dirty="0">
                <a:latin typeface="Calibri" panose="020F0502020204030204"/>
                <a:cs typeface="Calibri" panose="020F0502020204030204"/>
              </a:rPr>
              <a:t>B-</a:t>
            </a:r>
            <a:r>
              <a:rPr dirty="0">
                <a:latin typeface="Calibri" panose="020F0502020204030204"/>
                <a:cs typeface="Calibri" panose="020F0502020204030204"/>
              </a:rPr>
              <a:t>52,</a:t>
            </a:r>
            <a:r>
              <a:rPr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pc="-10" dirty="0">
                <a:latin typeface="Calibri" panose="020F0502020204030204"/>
                <a:cs typeface="Calibri" panose="020F0502020204030204"/>
              </a:rPr>
              <a:t>Sector</a:t>
            </a:r>
            <a:r>
              <a:rPr spc="-35" dirty="0">
                <a:latin typeface="Calibri" panose="020F0502020204030204"/>
                <a:cs typeface="Calibri" panose="020F0502020204030204"/>
              </a:rPr>
              <a:t> </a:t>
            </a:r>
            <a:r>
              <a:rPr dirty="0">
                <a:latin typeface="Calibri" panose="020F0502020204030204"/>
                <a:cs typeface="Calibri" panose="020F0502020204030204"/>
              </a:rPr>
              <a:t>63,</a:t>
            </a:r>
            <a:r>
              <a:rPr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pc="-20" dirty="0">
                <a:latin typeface="Calibri" panose="020F0502020204030204"/>
                <a:cs typeface="Calibri" panose="020F0502020204030204"/>
              </a:rPr>
              <a:t>Noida,</a:t>
            </a:r>
            <a:r>
              <a:rPr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pc="-20" dirty="0">
                <a:latin typeface="Calibri" panose="020F0502020204030204"/>
                <a:cs typeface="Calibri" panose="020F0502020204030204"/>
              </a:rPr>
              <a:t>Uttar</a:t>
            </a:r>
            <a:r>
              <a:rPr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pc="-30" dirty="0">
                <a:latin typeface="Calibri" panose="020F0502020204030204"/>
                <a:cs typeface="Calibri" panose="020F0502020204030204"/>
              </a:rPr>
              <a:t>Pradesh</a:t>
            </a:r>
            <a:r>
              <a:rPr spc="-75" dirty="0"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latin typeface="SimSun" panose="02010600030101010101" pitchFamily="2" charset="-122"/>
                <a:cs typeface="SimSun" panose="02010600030101010101" pitchFamily="2" charset="-122"/>
              </a:rPr>
              <a:t>–</a:t>
            </a:r>
            <a:r>
              <a:rPr b="0" spc="-740" dirty="0">
                <a:latin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dirty="0">
                <a:latin typeface="Calibri" panose="020F0502020204030204"/>
                <a:cs typeface="Calibri" panose="020F0502020204030204"/>
              </a:rPr>
              <a:t>201301</a:t>
            </a:r>
            <a:r>
              <a:rPr spc="335" dirty="0">
                <a:latin typeface="Calibri" panose="020F0502020204030204"/>
                <a:cs typeface="Calibri" panose="020F0502020204030204"/>
              </a:rPr>
              <a:t> </a:t>
            </a:r>
            <a:r>
              <a:rPr b="0" spc="165" dirty="0">
                <a:latin typeface="Arial MT"/>
                <a:cs typeface="Arial MT"/>
              </a:rPr>
              <a:t>With</a:t>
            </a:r>
            <a:r>
              <a:rPr b="0" spc="215" dirty="0">
                <a:latin typeface="Arial MT"/>
                <a:cs typeface="Arial MT"/>
              </a:rPr>
              <a:t> </a:t>
            </a:r>
            <a:r>
              <a:rPr b="0" spc="-50" dirty="0">
                <a:latin typeface="Arial MT"/>
                <a:cs typeface="Arial MT"/>
              </a:rPr>
              <a:t>a </a:t>
            </a:r>
            <a:r>
              <a:rPr b="0" spc="60" dirty="0">
                <a:latin typeface="Arial MT"/>
                <a:cs typeface="Arial MT"/>
              </a:rPr>
              <a:t>global</a:t>
            </a:r>
            <a:r>
              <a:rPr b="0" spc="220" dirty="0">
                <a:latin typeface="Arial MT"/>
                <a:cs typeface="Arial MT"/>
              </a:rPr>
              <a:t> </a:t>
            </a:r>
            <a:r>
              <a:rPr b="0" spc="55" dirty="0">
                <a:latin typeface="Arial MT"/>
                <a:cs typeface="Arial MT"/>
              </a:rPr>
              <a:t>presence,</a:t>
            </a:r>
            <a:r>
              <a:rPr b="0" spc="240" dirty="0">
                <a:latin typeface="Arial MT"/>
                <a:cs typeface="Arial MT"/>
              </a:rPr>
              <a:t> </a:t>
            </a:r>
            <a:r>
              <a:rPr dirty="0"/>
              <a:t>Tecorb</a:t>
            </a:r>
            <a:r>
              <a:rPr spc="229" dirty="0"/>
              <a:t> </a:t>
            </a:r>
            <a:r>
              <a:rPr dirty="0"/>
              <a:t>serves</a:t>
            </a:r>
            <a:r>
              <a:rPr spc="240" dirty="0"/>
              <a:t> </a:t>
            </a:r>
            <a:r>
              <a:rPr dirty="0"/>
              <a:t>startups,</a:t>
            </a:r>
            <a:r>
              <a:rPr spc="220" dirty="0"/>
              <a:t> </a:t>
            </a:r>
            <a:r>
              <a:rPr dirty="0"/>
              <a:t>SMEs,</a:t>
            </a:r>
            <a:r>
              <a:rPr spc="225" dirty="0"/>
              <a:t> </a:t>
            </a:r>
            <a:r>
              <a:rPr spc="-25" dirty="0"/>
              <a:t>and </a:t>
            </a:r>
            <a:r>
              <a:rPr dirty="0"/>
              <a:t>enterprises</a:t>
            </a:r>
            <a:r>
              <a:rPr spc="185" dirty="0"/>
              <a:t> </a:t>
            </a:r>
            <a:r>
              <a:rPr dirty="0"/>
              <a:t>across</a:t>
            </a:r>
            <a:r>
              <a:rPr spc="165" dirty="0"/>
              <a:t> </a:t>
            </a:r>
            <a:r>
              <a:rPr dirty="0"/>
              <a:t>various</a:t>
            </a:r>
            <a:r>
              <a:rPr spc="160" dirty="0"/>
              <a:t> </a:t>
            </a:r>
            <a:r>
              <a:rPr dirty="0"/>
              <a:t>industries</a:t>
            </a:r>
            <a:r>
              <a:rPr b="0" dirty="0">
                <a:latin typeface="Arial MT"/>
                <a:cs typeface="Arial MT"/>
              </a:rPr>
              <a:t>.</a:t>
            </a:r>
            <a:r>
              <a:rPr b="0" spc="16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160" dirty="0">
                <a:latin typeface="Arial MT"/>
                <a:cs typeface="Arial MT"/>
              </a:rPr>
              <a:t> </a:t>
            </a:r>
            <a:r>
              <a:rPr b="0" spc="75" dirty="0">
                <a:latin typeface="Arial MT"/>
                <a:cs typeface="Arial MT"/>
              </a:rPr>
              <a:t>company </a:t>
            </a:r>
            <a:r>
              <a:rPr b="0" spc="120" dirty="0">
                <a:latin typeface="Arial MT"/>
                <a:cs typeface="Arial MT"/>
              </a:rPr>
              <a:t>focuses</a:t>
            </a:r>
            <a:r>
              <a:rPr b="0" spc="275" dirty="0">
                <a:latin typeface="Arial MT"/>
                <a:cs typeface="Arial MT"/>
              </a:rPr>
              <a:t> </a:t>
            </a:r>
            <a:r>
              <a:rPr b="0" spc="95" dirty="0">
                <a:latin typeface="Arial MT"/>
                <a:cs typeface="Arial MT"/>
              </a:rPr>
              <a:t>on</a:t>
            </a:r>
            <a:r>
              <a:rPr b="0" spc="290" dirty="0">
                <a:latin typeface="Arial MT"/>
                <a:cs typeface="Arial MT"/>
              </a:rPr>
              <a:t> </a:t>
            </a:r>
            <a:r>
              <a:rPr b="0" spc="90" dirty="0">
                <a:latin typeface="Arial MT"/>
                <a:cs typeface="Arial MT"/>
              </a:rPr>
              <a:t>innovation,</a:t>
            </a:r>
            <a:r>
              <a:rPr b="0" spc="280" dirty="0">
                <a:latin typeface="Arial MT"/>
                <a:cs typeface="Arial MT"/>
              </a:rPr>
              <a:t> </a:t>
            </a:r>
            <a:r>
              <a:rPr b="0" spc="90" dirty="0">
                <a:latin typeface="Arial MT"/>
                <a:cs typeface="Arial MT"/>
              </a:rPr>
              <a:t>quality,</a:t>
            </a:r>
            <a:r>
              <a:rPr b="0" spc="275" dirty="0">
                <a:latin typeface="Arial MT"/>
                <a:cs typeface="Arial MT"/>
              </a:rPr>
              <a:t> </a:t>
            </a:r>
            <a:r>
              <a:rPr b="0" spc="55" dirty="0">
                <a:latin typeface="Arial MT"/>
                <a:cs typeface="Arial MT"/>
              </a:rPr>
              <a:t>and</a:t>
            </a:r>
            <a:r>
              <a:rPr b="0" spc="280" dirty="0">
                <a:latin typeface="Arial MT"/>
                <a:cs typeface="Arial MT"/>
              </a:rPr>
              <a:t> </a:t>
            </a:r>
            <a:r>
              <a:rPr b="0" spc="145" dirty="0">
                <a:latin typeface="Arial MT"/>
                <a:cs typeface="Arial MT"/>
              </a:rPr>
              <a:t>customer </a:t>
            </a:r>
            <a:r>
              <a:rPr b="0" spc="135" dirty="0">
                <a:latin typeface="Arial MT"/>
                <a:cs typeface="Arial MT"/>
              </a:rPr>
              <a:t>satisfaction,</a:t>
            </a:r>
            <a:r>
              <a:rPr b="0" spc="335" dirty="0">
                <a:latin typeface="Arial MT"/>
                <a:cs typeface="Arial MT"/>
              </a:rPr>
              <a:t> </a:t>
            </a:r>
            <a:r>
              <a:rPr b="0" spc="90" dirty="0">
                <a:latin typeface="Arial MT"/>
                <a:cs typeface="Arial MT"/>
              </a:rPr>
              <a:t>providing</a:t>
            </a:r>
            <a:r>
              <a:rPr b="0" spc="3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</a:t>
            </a:r>
            <a:r>
              <a:rPr b="0" spc="335" dirty="0">
                <a:latin typeface="Arial MT"/>
                <a:cs typeface="Arial MT"/>
              </a:rPr>
              <a:t> </a:t>
            </a:r>
            <a:r>
              <a:rPr b="0" spc="180" dirty="0">
                <a:latin typeface="Arial MT"/>
                <a:cs typeface="Arial MT"/>
              </a:rPr>
              <a:t>strong</a:t>
            </a:r>
            <a:r>
              <a:rPr b="0" spc="325" dirty="0">
                <a:latin typeface="Arial MT"/>
                <a:cs typeface="Arial MT"/>
              </a:rPr>
              <a:t> </a:t>
            </a:r>
            <a:r>
              <a:rPr dirty="0"/>
              <a:t>platform</a:t>
            </a:r>
            <a:r>
              <a:rPr spc="335" dirty="0"/>
              <a:t> </a:t>
            </a:r>
            <a:r>
              <a:rPr spc="70" dirty="0"/>
              <a:t>for</a:t>
            </a:r>
            <a:r>
              <a:rPr spc="335" dirty="0"/>
              <a:t> </a:t>
            </a:r>
            <a:r>
              <a:rPr spc="-10" dirty="0"/>
              <a:t>learning, </a:t>
            </a:r>
            <a:r>
              <a:rPr spc="-20" dirty="0"/>
              <a:t>skill</a:t>
            </a:r>
            <a:r>
              <a:rPr spc="-5" dirty="0"/>
              <a:t> </a:t>
            </a:r>
            <a:r>
              <a:rPr dirty="0"/>
              <a:t>development, and professional </a:t>
            </a:r>
            <a:r>
              <a:rPr spc="50" dirty="0"/>
              <a:t>growth</a:t>
            </a:r>
            <a:r>
              <a:rPr b="0" spc="50" dirty="0">
                <a:latin typeface="Arial MT"/>
                <a:cs typeface="Arial MT"/>
              </a:rPr>
              <a:t>.</a:t>
            </a:r>
          </a:p>
        </p:txBody>
      </p:sp>
      <p:pic>
        <p:nvPicPr>
          <p:cNvPr id="2097156" name="object 8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99835" y="5975088"/>
            <a:ext cx="3519339" cy="5481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2"/>
          <p:cNvSpPr>
            <a:spLocks noGrp="1"/>
          </p:cNvSpPr>
          <p:nvPr>
            <p:ph type="title"/>
          </p:nvPr>
        </p:nvSpPr>
        <p:spPr>
          <a:xfrm>
            <a:off x="510225" y="176077"/>
            <a:ext cx="11171548" cy="533400"/>
          </a:xfrm>
        </p:spPr>
        <p:txBody>
          <a:bodyPr/>
          <a:lstStyle/>
          <a:p>
            <a:endParaRPr lang="en-US"/>
          </a:p>
        </p:txBody>
      </p:sp>
      <p:pic>
        <p:nvPicPr>
          <p:cNvPr id="2097157" name="Picture 3" descr="Mahak-Internship-Letter_page-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85" y="-18415"/>
            <a:ext cx="12198985" cy="68764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7" descr="Backe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45" y="-635"/>
            <a:ext cx="12179300" cy="6858635"/>
          </a:xfrm>
          <a:prstGeom prst="rect">
            <a:avLst/>
          </a:prstGeom>
        </p:spPr>
      </p:pic>
      <p:sp>
        <p:nvSpPr>
          <p:cNvPr id="1048608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1548" y="-77"/>
            <a:ext cx="9420225" cy="55308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200" spc="-25" dirty="0">
                <a:solidFill>
                  <a:srgbClr val="FFFFFF"/>
                </a:solidFill>
              </a:rPr>
              <a:t>Technology</a:t>
            </a:r>
            <a:r>
              <a:rPr sz="3200" spc="-9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Stack</a:t>
            </a:r>
            <a:r>
              <a:rPr sz="3200" spc="-90" dirty="0">
                <a:solidFill>
                  <a:srgbClr val="FFFFFF"/>
                </a:solidFill>
              </a:rPr>
              <a:t> </a:t>
            </a:r>
            <a:r>
              <a:rPr sz="3200" spc="-20" dirty="0">
                <a:solidFill>
                  <a:srgbClr val="FFFFFF"/>
                </a:solidFill>
              </a:rPr>
              <a:t>Used</a:t>
            </a:r>
            <a:endParaRPr sz="3200"/>
          </a:p>
        </p:txBody>
      </p:sp>
      <p:pic>
        <p:nvPicPr>
          <p:cNvPr id="2097159" name="object 6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4143" y="-116"/>
            <a:ext cx="1133474" cy="1200149"/>
          </a:xfrm>
          <a:prstGeom prst="rect">
            <a:avLst/>
          </a:prstGeom>
        </p:spPr>
      </p:pic>
      <p:sp>
        <p:nvSpPr>
          <p:cNvPr id="1048609" name="object 3"/>
          <p:cNvSpPr/>
          <p:nvPr/>
        </p:nvSpPr>
        <p:spPr>
          <a:xfrm>
            <a:off x="0" y="6616780"/>
            <a:ext cx="12192000" cy="230504"/>
          </a:xfrm>
          <a:custGeom>
            <a:avLst/>
            <a:gdLst/>
            <a:ahLst/>
            <a:cxnLst/>
            <a:rect l="l" t="t" r="r" b="b"/>
            <a:pathLst>
              <a:path w="12192000" h="230504">
                <a:moveTo>
                  <a:pt x="12192000" y="230244"/>
                </a:moveTo>
                <a:lnTo>
                  <a:pt x="0" y="230244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3024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1548" y="218363"/>
            <a:ext cx="9420225" cy="55308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2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Goal</a:t>
            </a:r>
            <a:r>
              <a:rPr sz="3200" b="1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b="1" spc="-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Training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611" name="object 3"/>
          <p:cNvSpPr/>
          <p:nvPr/>
        </p:nvSpPr>
        <p:spPr>
          <a:xfrm>
            <a:off x="0" y="6616780"/>
            <a:ext cx="12192000" cy="230504"/>
          </a:xfrm>
          <a:custGeom>
            <a:avLst/>
            <a:gdLst/>
            <a:ahLst/>
            <a:cxnLst/>
            <a:rect l="l" t="t" r="r" b="b"/>
            <a:pathLst>
              <a:path w="12192000" h="230504">
                <a:moveTo>
                  <a:pt x="12192000" y="230244"/>
                </a:moveTo>
                <a:lnTo>
                  <a:pt x="0" y="230244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3024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12" name="object 4"/>
          <p:cNvSpPr txBox="1"/>
          <p:nvPr/>
        </p:nvSpPr>
        <p:spPr>
          <a:xfrm>
            <a:off x="73025" y="6619971"/>
            <a:ext cx="8026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sz="12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13" name="object 5"/>
          <p:cNvSpPr txBox="1"/>
          <p:nvPr/>
        </p:nvSpPr>
        <p:spPr>
          <a:xfrm>
            <a:off x="6686575" y="6619971"/>
            <a:ext cx="9626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2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60" name="object 6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6650" y="112764"/>
            <a:ext cx="1133475" cy="1200150"/>
          </a:xfrm>
          <a:prstGeom prst="rect">
            <a:avLst/>
          </a:prstGeom>
        </p:spPr>
      </p:pic>
      <p:sp>
        <p:nvSpPr>
          <p:cNvPr id="1048614" name="object 7"/>
          <p:cNvSpPr txBox="1"/>
          <p:nvPr/>
        </p:nvSpPr>
        <p:spPr>
          <a:xfrm>
            <a:off x="2248467" y="1025130"/>
            <a:ext cx="9217025" cy="5612765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39420" indent="-426720">
              <a:lnSpc>
                <a:spcPct val="100000"/>
              </a:lnSpc>
              <a:spcBef>
                <a:spcPts val="1355"/>
              </a:spcBef>
              <a:buAutoNum type="arabicPeriod"/>
              <a:tabLst>
                <a:tab pos="439420" algn="l"/>
              </a:tabLst>
            </a:pPr>
            <a:r>
              <a:rPr sz="2600" spc="-105" dirty="0">
                <a:latin typeface="Calibri" panose="020F0502020204030204"/>
                <a:cs typeface="Calibri" panose="020F0502020204030204"/>
              </a:rPr>
              <a:t>To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gain</a:t>
            </a:r>
            <a:r>
              <a:rPr sz="26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25" dirty="0">
                <a:latin typeface="Calibri" panose="020F0502020204030204"/>
                <a:cs typeface="Calibri" panose="020F0502020204030204"/>
              </a:rPr>
              <a:t>hands-</a:t>
            </a:r>
            <a:r>
              <a:rPr sz="2600" b="1" dirty="0">
                <a:latin typeface="Calibri" panose="020F0502020204030204"/>
                <a:cs typeface="Calibri" panose="020F0502020204030204"/>
              </a:rPr>
              <a:t>on</a:t>
            </a:r>
            <a:r>
              <a:rPr sz="26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10" dirty="0">
                <a:latin typeface="Calibri" panose="020F0502020204030204"/>
                <a:cs typeface="Calibri" panose="020F0502020204030204"/>
              </a:rPr>
              <a:t>experience</a:t>
            </a:r>
            <a:r>
              <a:rPr sz="26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dirty="0">
                <a:latin typeface="Calibri" panose="020F0502020204030204"/>
                <a:cs typeface="Calibri" panose="020F0502020204030204"/>
              </a:rPr>
              <a:t>with</a:t>
            </a:r>
            <a:r>
              <a:rPr sz="26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20" dirty="0">
                <a:latin typeface="Calibri" panose="020F0502020204030204"/>
                <a:cs typeface="Calibri" panose="020F0502020204030204"/>
              </a:rPr>
              <a:t>full-</a:t>
            </a:r>
            <a:r>
              <a:rPr sz="2600" b="1" dirty="0">
                <a:latin typeface="Calibri" panose="020F0502020204030204"/>
                <a:cs typeface="Calibri" panose="020F0502020204030204"/>
              </a:rPr>
              <a:t>stack</a:t>
            </a:r>
            <a:r>
              <a:rPr sz="26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dirty="0">
                <a:latin typeface="Calibri" panose="020F0502020204030204"/>
                <a:cs typeface="Calibri" panose="020F0502020204030204"/>
              </a:rPr>
              <a:t>web</a:t>
            </a:r>
            <a:r>
              <a:rPr sz="26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10" dirty="0">
                <a:latin typeface="Calibri" panose="020F0502020204030204"/>
                <a:cs typeface="Calibri" panose="020F0502020204030204"/>
              </a:rPr>
              <a:t>development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 marL="12700" marR="102870" indent="427355">
              <a:lnSpc>
                <a:spcPct val="100000"/>
              </a:lnSpc>
              <a:spcBef>
                <a:spcPts val="1260"/>
              </a:spcBef>
              <a:buAutoNum type="arabicPeriod"/>
              <a:tabLst>
                <a:tab pos="440055" algn="l"/>
              </a:tabLst>
            </a:pPr>
            <a:r>
              <a:rPr sz="2600" spc="-105" dirty="0">
                <a:latin typeface="Calibri" panose="020F0502020204030204"/>
                <a:cs typeface="Calibri" panose="020F0502020204030204"/>
              </a:rPr>
              <a:t>To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learn</a:t>
            </a:r>
            <a:r>
              <a:rPr sz="2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25" dirty="0">
                <a:latin typeface="Calibri" panose="020F0502020204030204"/>
                <a:cs typeface="Calibri" panose="020F0502020204030204"/>
              </a:rPr>
              <a:t>end-</a:t>
            </a:r>
            <a:r>
              <a:rPr sz="2600" b="1" spc="-30" dirty="0">
                <a:latin typeface="Calibri" panose="020F0502020204030204"/>
                <a:cs typeface="Calibri" panose="020F0502020204030204"/>
              </a:rPr>
              <a:t>to-</a:t>
            </a:r>
            <a:r>
              <a:rPr sz="2600" b="1" dirty="0">
                <a:latin typeface="Calibri" panose="020F0502020204030204"/>
                <a:cs typeface="Calibri" panose="020F0502020204030204"/>
              </a:rPr>
              <a:t>end</a:t>
            </a:r>
            <a:r>
              <a:rPr sz="26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dirty="0">
                <a:latin typeface="Calibri" panose="020F0502020204030204"/>
                <a:cs typeface="Calibri" panose="020F0502020204030204"/>
              </a:rPr>
              <a:t>project</a:t>
            </a:r>
            <a:r>
              <a:rPr sz="26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10" dirty="0">
                <a:latin typeface="Calibri" panose="020F0502020204030204"/>
                <a:cs typeface="Calibri" panose="020F0502020204030204"/>
              </a:rPr>
              <a:t>development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including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10" dirty="0">
                <a:latin typeface="Calibri" panose="020F0502020204030204"/>
                <a:cs typeface="Calibri" panose="020F0502020204030204"/>
              </a:rPr>
              <a:t>debugging, </a:t>
            </a:r>
            <a:r>
              <a:rPr sz="2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TecOrb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Developer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Onboarding: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Built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200" b="1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intensive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training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model</a:t>
            </a:r>
            <a:r>
              <a:rPr sz="2200" b="1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TecOrb </a:t>
            </a:r>
            <a:r>
              <a:rPr sz="22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Solutions</a:t>
            </a:r>
            <a:r>
              <a:rPr sz="2200" b="1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Mobile</a:t>
            </a:r>
            <a:r>
              <a:rPr sz="2200" b="1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Development</a:t>
            </a:r>
            <a:r>
              <a:rPr sz="2200" b="1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200" b="1" spc="-6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train</a:t>
            </a:r>
            <a:r>
              <a:rPr sz="2200" b="1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new</a:t>
            </a:r>
            <a:r>
              <a:rPr sz="2200" b="1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software</a:t>
            </a:r>
            <a:r>
              <a:rPr sz="2200" b="1" spc="-6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engineers</a:t>
            </a:r>
            <a:r>
              <a:rPr sz="2200" b="1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200" b="1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building </a:t>
            </a:r>
            <a:r>
              <a:rPr sz="2200" b="1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enterprise-</a:t>
            </a:r>
            <a:r>
              <a:rPr sz="2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grade</a:t>
            </a:r>
            <a:r>
              <a:rPr sz="2200" b="1" spc="-6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200" b="1" spc="-6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Science</a:t>
            </a:r>
            <a:r>
              <a:rPr sz="2200" b="1" spc="-6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2200" b="1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GenAI</a:t>
            </a:r>
            <a:r>
              <a:rPr sz="2200" b="1" spc="-6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web</a:t>
            </a:r>
            <a:r>
              <a:rPr sz="2200" b="1" spc="-6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products.</a:t>
            </a:r>
            <a:r>
              <a:rPr sz="2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Demonstrates</a:t>
            </a:r>
            <a:r>
              <a:rPr sz="2200" b="1" spc="-5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practical</a:t>
            </a:r>
            <a:r>
              <a:rPr sz="2200" b="1" spc="-5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mastery</a:t>
            </a:r>
            <a:r>
              <a:rPr sz="2200" b="1" spc="-5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200" b="1" spc="-5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2200" b="1" spc="-5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Engineering</a:t>
            </a:r>
            <a:r>
              <a:rPr sz="2200" b="1" spc="-5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(Pandas/NumPy)</a:t>
            </a:r>
            <a:r>
              <a:rPr sz="2200" b="1" spc="-5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combined </a:t>
            </a:r>
            <a:r>
              <a:rPr sz="22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200" b="1" spc="-8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Generative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(RAG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22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LLMs)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439420" marR="608965" indent="-427355">
              <a:lnSpc>
                <a:spcPct val="117000"/>
              </a:lnSpc>
              <a:spcBef>
                <a:spcPts val="50"/>
              </a:spcBef>
              <a:buAutoNum type="arabicPeriod" startAt="4"/>
              <a:tabLst>
                <a:tab pos="440690" algn="l"/>
              </a:tabLst>
            </a:pPr>
            <a:r>
              <a:rPr sz="2600" spc="-105" dirty="0">
                <a:latin typeface="Calibri" panose="020F0502020204030204"/>
                <a:cs typeface="Calibri" panose="020F0502020204030204"/>
              </a:rPr>
              <a:t>To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develop</a:t>
            </a:r>
            <a:r>
              <a:rPr sz="26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10" dirty="0">
                <a:latin typeface="Calibri" panose="020F0502020204030204"/>
                <a:cs typeface="Calibri" panose="020F0502020204030204"/>
              </a:rPr>
              <a:t>professional</a:t>
            </a:r>
            <a:r>
              <a:rPr sz="2600" b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dirty="0">
                <a:latin typeface="Calibri" panose="020F0502020204030204"/>
                <a:cs typeface="Calibri" panose="020F0502020204030204"/>
              </a:rPr>
              <a:t>skills</a:t>
            </a:r>
            <a:r>
              <a:rPr sz="26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such</a:t>
            </a:r>
            <a:r>
              <a:rPr sz="26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as</a:t>
            </a:r>
            <a:r>
              <a:rPr sz="2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effective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10" dirty="0">
                <a:latin typeface="Calibri" panose="020F0502020204030204"/>
                <a:cs typeface="Calibri" panose="020F0502020204030204"/>
              </a:rPr>
              <a:t>teamwork, 	</a:t>
            </a:r>
            <a:r>
              <a:rPr sz="2600" b="1" spc="-20" dirty="0">
                <a:latin typeface="Calibri" panose="020F0502020204030204"/>
                <a:cs typeface="Calibri" panose="020F0502020204030204"/>
              </a:rPr>
              <a:t>communication,</a:t>
            </a:r>
            <a:r>
              <a:rPr sz="26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dirty="0">
                <a:latin typeface="Calibri" panose="020F0502020204030204"/>
                <a:cs typeface="Calibri" panose="020F0502020204030204"/>
              </a:rPr>
              <a:t>and</a:t>
            </a:r>
            <a:r>
              <a:rPr sz="26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20" dirty="0">
                <a:latin typeface="Calibri" panose="020F0502020204030204"/>
                <a:cs typeface="Calibri" panose="020F0502020204030204"/>
              </a:rPr>
              <a:t>collaboration</a:t>
            </a:r>
            <a:r>
              <a:rPr sz="26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</a:t>
            </a:r>
            <a:r>
              <a:rPr sz="2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</a:t>
            </a:r>
            <a:r>
              <a:rPr sz="2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project</a:t>
            </a:r>
            <a:r>
              <a:rPr sz="2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environment.</a:t>
            </a:r>
            <a:endParaRPr sz="2600">
              <a:latin typeface="Calibri" panose="020F0502020204030204"/>
              <a:cs typeface="Calibri" panose="020F0502020204030204"/>
            </a:endParaRPr>
          </a:p>
          <a:p>
            <a:pPr marL="438785" marR="5080" indent="-426720">
              <a:lnSpc>
                <a:spcPct val="100000"/>
              </a:lnSpc>
              <a:buAutoNum type="arabicPeriod" startAt="4"/>
              <a:tabLst>
                <a:tab pos="440690" algn="l"/>
              </a:tabLst>
            </a:pPr>
            <a:r>
              <a:rPr sz="2600" spc="-105" dirty="0">
                <a:latin typeface="Calibri" panose="020F0502020204030204"/>
                <a:cs typeface="Calibri" panose="020F0502020204030204"/>
              </a:rPr>
              <a:t>To</a:t>
            </a:r>
            <a:r>
              <a:rPr sz="2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strengthen</a:t>
            </a:r>
            <a:r>
              <a:rPr sz="26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expertise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in</a:t>
            </a:r>
            <a:r>
              <a:rPr sz="2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10" dirty="0">
                <a:latin typeface="Calibri" panose="020F0502020204030204"/>
                <a:cs typeface="Calibri" panose="020F0502020204030204"/>
              </a:rPr>
              <a:t>version</a:t>
            </a:r>
            <a:r>
              <a:rPr sz="26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10" dirty="0">
                <a:latin typeface="Calibri" panose="020F0502020204030204"/>
                <a:cs typeface="Calibri" panose="020F0502020204030204"/>
              </a:rPr>
              <a:t>control,</a:t>
            </a:r>
            <a:r>
              <a:rPr sz="26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dirty="0">
                <a:latin typeface="Calibri" panose="020F0502020204030204"/>
                <a:cs typeface="Calibri" panose="020F0502020204030204"/>
              </a:rPr>
              <a:t>API</a:t>
            </a:r>
            <a:r>
              <a:rPr sz="26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dirty="0">
                <a:latin typeface="Calibri" panose="020F0502020204030204"/>
                <a:cs typeface="Calibri" panose="020F0502020204030204"/>
              </a:rPr>
              <a:t>testing,</a:t>
            </a:r>
            <a:r>
              <a:rPr sz="26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25" dirty="0">
                <a:latin typeface="Calibri" panose="020F0502020204030204"/>
                <a:cs typeface="Calibri" panose="020F0502020204030204"/>
              </a:rPr>
              <a:t>and 	</a:t>
            </a:r>
            <a:r>
              <a:rPr sz="2600" b="1" spc="-10" dirty="0">
                <a:latin typeface="Calibri" panose="020F0502020204030204"/>
                <a:cs typeface="Calibri" panose="020F0502020204030204"/>
              </a:rPr>
              <a:t>deployment</a:t>
            </a:r>
            <a:r>
              <a:rPr sz="26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10" dirty="0">
                <a:latin typeface="Calibri" panose="020F0502020204030204"/>
                <a:cs typeface="Calibri" panose="020F0502020204030204"/>
              </a:rPr>
              <a:t>workflows</a:t>
            </a:r>
            <a:r>
              <a:rPr sz="26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while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applying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all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skills</a:t>
            </a:r>
            <a:r>
              <a:rPr sz="26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to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dirty="0">
                <a:latin typeface="Calibri" panose="020F0502020204030204"/>
                <a:cs typeface="Calibri" panose="020F0502020204030204"/>
              </a:rPr>
              <a:t>build</a:t>
            </a:r>
            <a:r>
              <a:rPr sz="2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b="1" spc="-10" dirty="0">
                <a:latin typeface="Calibri" panose="020F0502020204030204"/>
                <a:cs typeface="Calibri" panose="020F0502020204030204"/>
              </a:rPr>
              <a:t>DEVenue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, 	</a:t>
            </a:r>
            <a:r>
              <a:rPr sz="2600" dirty="0">
                <a:latin typeface="Calibri" panose="020F0502020204030204"/>
                <a:cs typeface="Calibri" panose="020F0502020204030204"/>
              </a:rPr>
              <a:t>a</a:t>
            </a:r>
            <a:r>
              <a:rPr sz="2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developer-</a:t>
            </a:r>
            <a:r>
              <a:rPr sz="2600" dirty="0">
                <a:latin typeface="Calibri" panose="020F0502020204030204"/>
                <a:cs typeface="Calibri" panose="020F0502020204030204"/>
              </a:rPr>
              <a:t>focused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networking</a:t>
            </a:r>
            <a:r>
              <a:rPr sz="2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platform.</a:t>
            </a:r>
            <a:endParaRPr sz="2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1549" y="218362"/>
            <a:ext cx="9420225" cy="55308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70485" rIns="0" bIns="0" rtlCol="0">
            <a:spAutoFit/>
          </a:bodyPr>
          <a:lstStyle/>
          <a:p>
            <a:pPr marL="470535" algn="ctr">
              <a:lnSpc>
                <a:spcPct val="100000"/>
              </a:lnSpc>
              <a:spcBef>
                <a:spcPts val="555"/>
              </a:spcBef>
            </a:pPr>
            <a:r>
              <a:rPr sz="32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App</a:t>
            </a:r>
            <a:r>
              <a:rPr sz="3200" b="1" spc="-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Review</a:t>
            </a:r>
            <a:r>
              <a:rPr sz="3200" b="1" spc="-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Overview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616" name="object 3"/>
          <p:cNvSpPr/>
          <p:nvPr/>
        </p:nvSpPr>
        <p:spPr>
          <a:xfrm>
            <a:off x="0" y="6616780"/>
            <a:ext cx="12192000" cy="230504"/>
          </a:xfrm>
          <a:custGeom>
            <a:avLst/>
            <a:gdLst/>
            <a:ahLst/>
            <a:cxnLst/>
            <a:rect l="l" t="t" r="r" b="b"/>
            <a:pathLst>
              <a:path w="12192000" h="230504">
                <a:moveTo>
                  <a:pt x="12192000" y="230244"/>
                </a:moveTo>
                <a:lnTo>
                  <a:pt x="0" y="230244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3024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17" name="object 4"/>
          <p:cNvSpPr txBox="1"/>
          <p:nvPr/>
        </p:nvSpPr>
        <p:spPr>
          <a:xfrm>
            <a:off x="73025" y="6619971"/>
            <a:ext cx="8026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sz="12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18" name="object 5"/>
          <p:cNvSpPr txBox="1"/>
          <p:nvPr/>
        </p:nvSpPr>
        <p:spPr>
          <a:xfrm>
            <a:off x="6686575" y="6619971"/>
            <a:ext cx="9626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2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61" name="object 6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3472" y="174676"/>
            <a:ext cx="1133474" cy="1200149"/>
          </a:xfrm>
          <a:prstGeom prst="rect">
            <a:avLst/>
          </a:prstGeom>
        </p:spPr>
      </p:pic>
      <p:sp>
        <p:nvSpPr>
          <p:cNvPr id="1048619" name="object 7"/>
          <p:cNvSpPr txBox="1"/>
          <p:nvPr/>
        </p:nvSpPr>
        <p:spPr>
          <a:xfrm>
            <a:off x="2334005" y="1271677"/>
            <a:ext cx="8989060" cy="50419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700"/>
              </a:spcBef>
            </a:pPr>
            <a:r>
              <a:rPr sz="1050" dirty="0">
                <a:solidFill>
                  <a:srgbClr val="CCCCCC"/>
                </a:solidFill>
                <a:latin typeface="Arial MT"/>
                <a:cs typeface="Arial MT"/>
              </a:rPr>
              <a:t>T</a:t>
            </a:r>
            <a:r>
              <a:rPr sz="30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3000" b="1" spc="-14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TecOrb</a:t>
            </a:r>
            <a:r>
              <a:rPr sz="3000" b="1" spc="-1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Mobile</a:t>
            </a:r>
            <a:r>
              <a:rPr sz="3000" b="1" spc="-1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App</a:t>
            </a:r>
            <a:r>
              <a:rPr sz="3000" b="1" spc="-1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Analytics</a:t>
            </a:r>
            <a:r>
              <a:rPr sz="3000" b="1" spc="-1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3000" b="1" spc="-1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GenAI</a:t>
            </a:r>
            <a:r>
              <a:rPr sz="3000" b="1" spc="-1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RAG</a:t>
            </a:r>
            <a:r>
              <a:rPr sz="3000" b="1" spc="-1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Hardware </a:t>
            </a:r>
            <a:r>
              <a:rPr sz="3000" b="1" spc="-5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Assistant</a:t>
            </a:r>
            <a:r>
              <a:rPr sz="3000" b="1" spc="-19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3000" spc="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3000" spc="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enterprise-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grade</a:t>
            </a:r>
            <a:r>
              <a:rPr sz="3000" spc="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dual-engine web</a:t>
            </a:r>
            <a:r>
              <a:rPr sz="3000" spc="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platform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developed</a:t>
            </a:r>
            <a:r>
              <a:rPr sz="3000" spc="-9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3000" spc="-1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TecOrb</a:t>
            </a:r>
            <a:r>
              <a:rPr sz="3000" b="1" spc="-9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Solutions</a:t>
            </a:r>
            <a:r>
              <a:rPr sz="3000" b="1" spc="-8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Mobile</a:t>
            </a:r>
            <a:r>
              <a:rPr sz="3000" b="1" spc="-9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Development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onboarding</a:t>
            </a:r>
            <a:r>
              <a:rPr sz="3000" spc="-4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3000" spc="-4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academic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evaluation</a:t>
            </a:r>
            <a:r>
              <a:rPr sz="3000" spc="-4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3000" spc="-4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solve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challenge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analyzing</a:t>
            </a:r>
            <a:r>
              <a:rPr sz="3000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massive,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unstructured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3000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review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datasets</a:t>
            </a:r>
            <a:r>
              <a:rPr sz="3000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3000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providing</a:t>
            </a:r>
            <a:r>
              <a:rPr sz="3000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instant,</a:t>
            </a:r>
            <a:r>
              <a:rPr sz="3000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context-grounded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technical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troubleshooting.</a:t>
            </a:r>
            <a:r>
              <a:rPr sz="3000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operates</a:t>
            </a:r>
            <a:r>
              <a:rPr sz="3000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3000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dual-</a:t>
            </a:r>
            <a:r>
              <a:rPr sz="3000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engine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architecture</a:t>
            </a:r>
            <a:r>
              <a:rPr sz="3000" spc="-8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combining</a:t>
            </a:r>
            <a:r>
              <a:rPr sz="3000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000" spc="-1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Pandas</a:t>
            </a:r>
            <a:r>
              <a:rPr sz="30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3000" b="1" spc="-7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NumPy</a:t>
            </a:r>
            <a:r>
              <a:rPr sz="3000" b="1" spc="-8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Analytics Engine</a:t>
            </a:r>
            <a:r>
              <a:rPr sz="3000" b="1" spc="-9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3000" b="1" spc="-8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000" b="1" spc="-9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GenAI</a:t>
            </a:r>
            <a:r>
              <a:rPr sz="3000" b="1" spc="-8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RAG</a:t>
            </a:r>
            <a:r>
              <a:rPr sz="3000" b="1" spc="-8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Engine</a:t>
            </a:r>
            <a:r>
              <a:rPr sz="3000" b="1" spc="-1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3000" spc="-8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converts</a:t>
            </a:r>
            <a:r>
              <a:rPr sz="3000" spc="-9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support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documentation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3000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000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TF-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IDF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vector</a:t>
            </a:r>
            <a:r>
              <a:rPr sz="3000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matrix</a:t>
            </a:r>
            <a:r>
              <a:rPr sz="3000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3000" spc="-4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sub-</a:t>
            </a:r>
            <a:r>
              <a:rPr sz="3000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15ms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Cosine</a:t>
            </a:r>
            <a:r>
              <a:rPr sz="3000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Similarity</a:t>
            </a:r>
            <a:r>
              <a:rPr sz="3000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retrieval</a:t>
            </a:r>
            <a:r>
              <a:rPr sz="3000" spc="-6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3000" spc="-10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2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grounds</a:t>
            </a:r>
            <a:r>
              <a:rPr sz="3000" b="1" spc="-7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responses</a:t>
            </a:r>
            <a:r>
              <a:rPr sz="3000" b="1" spc="-6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using Google</a:t>
            </a:r>
            <a:r>
              <a:rPr sz="3000" b="1" spc="-1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Gemini</a:t>
            </a:r>
            <a:r>
              <a:rPr sz="3000" b="1" spc="-1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0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3000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3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708175"/>
          </a:xfrm>
          <a:prstGeom prst="rect">
            <a:avLst/>
          </a:prstGeom>
        </p:spPr>
        <p:txBody>
          <a:bodyPr vert="horz" wrap="square" lIns="0" tIns="174775" rIns="0" bIns="0" rtlCol="0">
            <a:spAutoFit/>
          </a:bodyPr>
          <a:lstStyle/>
          <a:p>
            <a:pPr marL="417703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REVIEW</a:t>
            </a:r>
            <a:r>
              <a:rPr spc="-10" dirty="0"/>
              <a:t> </a:t>
            </a:r>
            <a:r>
              <a:rPr spc="-150" dirty="0"/>
              <a:t>SECTION</a:t>
            </a:r>
          </a:p>
        </p:txBody>
      </p:sp>
      <p:pic>
        <p:nvPicPr>
          <p:cNvPr id="2097162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036" y="1370445"/>
            <a:ext cx="12170963" cy="5448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672296"/>
          </a:xfrm>
          <a:prstGeom prst="rect">
            <a:avLst/>
          </a:prstGeom>
        </p:spPr>
        <p:txBody>
          <a:bodyPr vert="horz" wrap="square" lIns="0" tIns="138896" rIns="0" bIns="0" rtlCol="0">
            <a:spAutoFit/>
          </a:bodyPr>
          <a:lstStyle/>
          <a:p>
            <a:pPr marL="4053205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REVIEW</a:t>
            </a:r>
            <a:r>
              <a:rPr spc="-10" dirty="0"/>
              <a:t> </a:t>
            </a:r>
            <a:r>
              <a:rPr spc="-150" dirty="0"/>
              <a:t>SECTION</a:t>
            </a:r>
          </a:p>
        </p:txBody>
      </p:sp>
      <p:pic>
        <p:nvPicPr>
          <p:cNvPr id="2097163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98" y="1298429"/>
            <a:ext cx="12165301" cy="5559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777749"/>
          </a:xfrm>
          <a:prstGeom prst="rect">
            <a:avLst/>
          </a:prstGeom>
        </p:spPr>
        <p:txBody>
          <a:bodyPr vert="horz" wrap="square" lIns="0" tIns="244349" rIns="0" bIns="0" rtlCol="0">
            <a:spAutoFit/>
          </a:bodyPr>
          <a:lstStyle/>
          <a:p>
            <a:pPr marL="4077335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REVIEW</a:t>
            </a:r>
            <a:r>
              <a:rPr spc="-10" dirty="0"/>
              <a:t> </a:t>
            </a:r>
            <a:r>
              <a:rPr spc="-150" dirty="0"/>
              <a:t>SECTION</a:t>
            </a:r>
          </a:p>
        </p:txBody>
      </p:sp>
      <p:pic>
        <p:nvPicPr>
          <p:cNvPr id="2097164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47605"/>
            <a:ext cx="12179031" cy="53103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object 2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68" y="36560"/>
            <a:ext cx="12164655" cy="67528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Picture 3" descr="RAG-Pipeline-Flow-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801033"/>
          </a:xfrm>
          <a:prstGeom prst="rect">
            <a:avLst/>
          </a:prstGeom>
        </p:spPr>
        <p:txBody>
          <a:bodyPr vert="horz" wrap="square" lIns="0" tIns="267632" rIns="0" bIns="0" rtlCol="0">
            <a:spAutoFit/>
          </a:bodyPr>
          <a:lstStyle/>
          <a:p>
            <a:pPr marL="370967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AI</a:t>
            </a:r>
            <a:r>
              <a:rPr spc="-190" dirty="0"/>
              <a:t> </a:t>
            </a:r>
            <a:r>
              <a:rPr spc="-170" dirty="0"/>
              <a:t>CHAT</a:t>
            </a:r>
            <a:r>
              <a:rPr spc="-170" dirty="0">
                <a:latin typeface="Arial MT"/>
                <a:cs typeface="Arial MT"/>
              </a:rPr>
              <a:t>BOT</a:t>
            </a:r>
          </a:p>
        </p:txBody>
      </p:sp>
      <p:pic>
        <p:nvPicPr>
          <p:cNvPr id="2097167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55410"/>
            <a:ext cx="12192000" cy="55025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866495"/>
          </a:xfrm>
          <a:prstGeom prst="rect">
            <a:avLst/>
          </a:prstGeom>
        </p:spPr>
        <p:txBody>
          <a:bodyPr vert="horz" wrap="square" lIns="0" tIns="333094" rIns="0" bIns="0" rtlCol="0">
            <a:spAutoFit/>
          </a:bodyPr>
          <a:lstStyle/>
          <a:p>
            <a:pPr marL="451167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AI</a:t>
            </a:r>
            <a:r>
              <a:rPr spc="-190" dirty="0"/>
              <a:t> </a:t>
            </a:r>
            <a:r>
              <a:rPr spc="-170" dirty="0"/>
              <a:t>CHAT</a:t>
            </a:r>
            <a:r>
              <a:rPr spc="-170" dirty="0">
                <a:latin typeface="Arial MT"/>
                <a:cs typeface="Arial MT"/>
              </a:rPr>
              <a:t>BOT</a:t>
            </a:r>
          </a:p>
        </p:txBody>
      </p:sp>
      <p:pic>
        <p:nvPicPr>
          <p:cNvPr id="2097168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32986"/>
            <a:ext cx="12110381" cy="55250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685248"/>
          </a:xfrm>
          <a:prstGeom prst="rect">
            <a:avLst/>
          </a:prstGeom>
        </p:spPr>
        <p:txBody>
          <a:bodyPr vert="horz" wrap="square" lIns="0" tIns="151847" rIns="0" bIns="0" rtlCol="0">
            <a:spAutoFit/>
          </a:bodyPr>
          <a:lstStyle/>
          <a:p>
            <a:pPr marL="356108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UPLOAD</a:t>
            </a:r>
            <a:r>
              <a:rPr spc="55" dirty="0"/>
              <a:t> </a:t>
            </a:r>
            <a:r>
              <a:rPr spc="-90" dirty="0"/>
              <a:t>DATASET</a:t>
            </a:r>
          </a:p>
        </p:txBody>
      </p:sp>
      <p:pic>
        <p:nvPicPr>
          <p:cNvPr id="2097169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681" y="1490448"/>
            <a:ext cx="12096653" cy="53277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object 2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466" y="290297"/>
            <a:ext cx="12164533" cy="63619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761274"/>
          </a:xfrm>
          <a:prstGeom prst="rect">
            <a:avLst/>
          </a:prstGeom>
        </p:spPr>
        <p:txBody>
          <a:bodyPr vert="horz" wrap="square" lIns="0" tIns="227874" rIns="0" bIns="0" rtlCol="0">
            <a:spAutoFit/>
          </a:bodyPr>
          <a:lstStyle/>
          <a:p>
            <a:pPr marL="3799205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DATASET</a:t>
            </a:r>
            <a:r>
              <a:rPr spc="-110" dirty="0"/>
              <a:t> </a:t>
            </a:r>
            <a:r>
              <a:rPr spc="-280" dirty="0"/>
              <a:t>INVENTOR</a:t>
            </a:r>
            <a:r>
              <a:rPr spc="-280" dirty="0">
                <a:latin typeface="Arial MT"/>
                <a:cs typeface="Arial MT"/>
              </a:rPr>
              <a:t>Y</a:t>
            </a:r>
          </a:p>
        </p:txBody>
      </p:sp>
      <p:pic>
        <p:nvPicPr>
          <p:cNvPr id="2097171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31567"/>
            <a:ext cx="12174924" cy="551978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95582" y="382775"/>
            <a:ext cx="6466205" cy="54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UPLOAD</a:t>
            </a:r>
            <a:r>
              <a:rPr dirty="0"/>
              <a:t> </a:t>
            </a:r>
            <a:r>
              <a:rPr spc="-315" dirty="0"/>
              <a:t>AND</a:t>
            </a:r>
            <a:r>
              <a:rPr dirty="0"/>
              <a:t> </a:t>
            </a:r>
            <a:r>
              <a:rPr spc="-110" dirty="0"/>
              <a:t>INGEST</a:t>
            </a:r>
            <a:r>
              <a:rPr spc="-35" dirty="0"/>
              <a:t> </a:t>
            </a:r>
            <a:r>
              <a:rPr spc="-75" dirty="0"/>
              <a:t>DATASET</a:t>
            </a:r>
          </a:p>
        </p:txBody>
      </p:sp>
      <p:pic>
        <p:nvPicPr>
          <p:cNvPr id="2097172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98" y="1359772"/>
            <a:ext cx="12165301" cy="54934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85999" y="394737"/>
            <a:ext cx="3469640" cy="54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RELEASE</a:t>
            </a:r>
            <a:r>
              <a:rPr spc="-110" dirty="0"/>
              <a:t> </a:t>
            </a:r>
            <a:r>
              <a:rPr spc="-114" dirty="0"/>
              <a:t>NOTES</a:t>
            </a:r>
          </a:p>
        </p:txBody>
      </p:sp>
      <p:pic>
        <p:nvPicPr>
          <p:cNvPr id="2097173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98" y="1307561"/>
            <a:ext cx="12151571" cy="55143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56789" y="176077"/>
            <a:ext cx="2673985" cy="54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API</a:t>
            </a:r>
            <a:r>
              <a:rPr spc="-175" dirty="0"/>
              <a:t> </a:t>
            </a:r>
            <a:r>
              <a:rPr spc="-95" dirty="0"/>
              <a:t>TESTING</a:t>
            </a:r>
          </a:p>
        </p:txBody>
      </p:sp>
      <p:pic>
        <p:nvPicPr>
          <p:cNvPr id="2097174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427" y="943223"/>
            <a:ext cx="12151572" cy="5904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1548" y="218363"/>
            <a:ext cx="9420225" cy="55308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2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sz="3200" b="1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Scope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631" name="object 3"/>
          <p:cNvSpPr/>
          <p:nvPr/>
        </p:nvSpPr>
        <p:spPr>
          <a:xfrm>
            <a:off x="0" y="6616780"/>
            <a:ext cx="12192000" cy="230504"/>
          </a:xfrm>
          <a:custGeom>
            <a:avLst/>
            <a:gdLst/>
            <a:ahLst/>
            <a:cxnLst/>
            <a:rect l="l" t="t" r="r" b="b"/>
            <a:pathLst>
              <a:path w="12192000" h="230504">
                <a:moveTo>
                  <a:pt x="12192000" y="230244"/>
                </a:moveTo>
                <a:lnTo>
                  <a:pt x="0" y="230244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3024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2" name="object 4"/>
          <p:cNvSpPr txBox="1"/>
          <p:nvPr/>
        </p:nvSpPr>
        <p:spPr>
          <a:xfrm>
            <a:off x="73025" y="6619971"/>
            <a:ext cx="8026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sz="12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33" name="object 5"/>
          <p:cNvSpPr txBox="1"/>
          <p:nvPr/>
        </p:nvSpPr>
        <p:spPr>
          <a:xfrm>
            <a:off x="6686575" y="6619971"/>
            <a:ext cx="9626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2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75" name="object 6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3751" y="20218"/>
            <a:ext cx="1133474" cy="1200149"/>
          </a:xfrm>
          <a:prstGeom prst="rect">
            <a:avLst/>
          </a:prstGeom>
        </p:spPr>
      </p:pic>
      <p:sp>
        <p:nvSpPr>
          <p:cNvPr id="1048634" name="object 7"/>
          <p:cNvSpPr txBox="1"/>
          <p:nvPr/>
        </p:nvSpPr>
        <p:spPr>
          <a:xfrm>
            <a:off x="2334004" y="1229482"/>
            <a:ext cx="8139430" cy="534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755" indent="-3175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97000"/>
              <a:buAutoNum type="arabicPeriod"/>
              <a:tabLst>
                <a:tab pos="325755" algn="l"/>
              </a:tabLst>
            </a:pPr>
            <a:r>
              <a:rPr sz="3200" b="1" spc="-5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Real-</a:t>
            </a:r>
            <a:r>
              <a:rPr sz="3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Time</a:t>
            </a:r>
            <a:r>
              <a:rPr sz="3200" b="1" spc="-1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Automated</a:t>
            </a:r>
            <a:r>
              <a:rPr sz="3200" b="1" spc="-1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3200" b="1" spc="-1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Scraping</a:t>
            </a:r>
            <a:r>
              <a:rPr sz="3200" b="1" spc="-1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3200" b="1" spc="-1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Syncing.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417830" indent="-405130">
              <a:lnSpc>
                <a:spcPct val="100000"/>
              </a:lnSpc>
              <a:spcBef>
                <a:spcPts val="3840"/>
              </a:spcBef>
              <a:buClr>
                <a:srgbClr val="000000"/>
              </a:buClr>
              <a:buSzPct val="97000"/>
              <a:buAutoNum type="arabicPeriod"/>
              <a:tabLst>
                <a:tab pos="417830" algn="l"/>
              </a:tabLst>
            </a:pPr>
            <a:r>
              <a:rPr sz="3200" b="1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Advanced</a:t>
            </a:r>
            <a:r>
              <a:rPr sz="3200" b="1" spc="-10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Sentiment</a:t>
            </a:r>
            <a:r>
              <a:rPr sz="3200" b="1" spc="-1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3200" b="1" spc="-10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2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Emotion</a:t>
            </a:r>
            <a:r>
              <a:rPr sz="3200" b="1" spc="-10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Analysis.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417830" indent="-405130">
              <a:lnSpc>
                <a:spcPct val="100000"/>
              </a:lnSpc>
              <a:spcBef>
                <a:spcPts val="3840"/>
              </a:spcBef>
              <a:buClr>
                <a:srgbClr val="000000"/>
              </a:buClr>
              <a:buSzPct val="97000"/>
              <a:buAutoNum type="arabicPeriod"/>
              <a:tabLst>
                <a:tab pos="417830" algn="l"/>
              </a:tabLst>
            </a:pPr>
            <a:r>
              <a:rPr sz="3200" b="1" spc="-3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Automated</a:t>
            </a:r>
            <a:r>
              <a:rPr sz="3200" b="1" spc="-1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3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Developer</a:t>
            </a:r>
            <a:r>
              <a:rPr sz="3200" b="1" spc="-10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5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Workflow</a:t>
            </a:r>
            <a:r>
              <a:rPr sz="3200" b="1" spc="-105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10101"/>
                </a:solidFill>
                <a:latin typeface="Calibri" panose="020F0502020204030204"/>
                <a:cs typeface="Calibri" panose="020F0502020204030204"/>
              </a:rPr>
              <a:t>Integrations</a:t>
            </a:r>
            <a:r>
              <a:rPr sz="3200" b="1" spc="-10" dirty="0">
                <a:latin typeface="Calibri" panose="020F0502020204030204"/>
                <a:cs typeface="Calibri" panose="020F0502020204030204"/>
              </a:rPr>
              <a:t>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417830" indent="-405130">
              <a:lnSpc>
                <a:spcPct val="100000"/>
              </a:lnSpc>
              <a:spcBef>
                <a:spcPts val="3840"/>
              </a:spcBef>
              <a:buSzPct val="97000"/>
              <a:buAutoNum type="arabicPeriod"/>
              <a:tabLst>
                <a:tab pos="417830" algn="l"/>
              </a:tabLst>
            </a:pPr>
            <a:r>
              <a:rPr sz="3200" b="1" dirty="0">
                <a:latin typeface="Calibri" panose="020F0502020204030204"/>
                <a:cs typeface="Calibri" panose="020F0502020204030204"/>
              </a:rPr>
              <a:t>Developer</a:t>
            </a:r>
            <a:r>
              <a:rPr sz="3200" b="1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latin typeface="Calibri" panose="020F0502020204030204"/>
                <a:cs typeface="Calibri" panose="020F0502020204030204"/>
              </a:rPr>
              <a:t>Portfolio</a:t>
            </a:r>
            <a:r>
              <a:rPr sz="3200" b="1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latin typeface="Calibri" panose="020F0502020204030204"/>
                <a:cs typeface="Calibri" panose="020F0502020204030204"/>
              </a:rPr>
              <a:t>&amp;</a:t>
            </a:r>
            <a:r>
              <a:rPr sz="3200" b="1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latin typeface="Calibri" panose="020F0502020204030204"/>
                <a:cs typeface="Calibri" panose="020F0502020204030204"/>
              </a:rPr>
              <a:t>Project</a:t>
            </a:r>
            <a:r>
              <a:rPr sz="3200" b="1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latin typeface="Calibri" panose="020F0502020204030204"/>
                <a:cs typeface="Calibri" panose="020F0502020204030204"/>
              </a:rPr>
              <a:t>Showcase.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417830" indent="-405130">
              <a:lnSpc>
                <a:spcPct val="100000"/>
              </a:lnSpc>
              <a:spcBef>
                <a:spcPts val="3840"/>
              </a:spcBef>
              <a:buSzPct val="97000"/>
              <a:buAutoNum type="arabicPeriod"/>
              <a:tabLst>
                <a:tab pos="417830" algn="l"/>
              </a:tabLst>
            </a:pPr>
            <a:r>
              <a:rPr sz="3200" b="1" dirty="0">
                <a:latin typeface="Calibri" panose="020F0502020204030204"/>
                <a:cs typeface="Calibri" panose="020F0502020204030204"/>
              </a:rPr>
              <a:t>Community</a:t>
            </a:r>
            <a:r>
              <a:rPr sz="32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latin typeface="Calibri" panose="020F0502020204030204"/>
                <a:cs typeface="Calibri" panose="020F0502020204030204"/>
              </a:rPr>
              <a:t>&amp;</a:t>
            </a:r>
            <a:r>
              <a:rPr sz="32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32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20" dirty="0">
                <a:latin typeface="Calibri" panose="020F0502020204030204"/>
                <a:cs typeface="Calibri" panose="020F0502020204030204"/>
              </a:rPr>
              <a:t>Hub.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object 2"/>
          <p:cNvSpPr/>
          <p:nvPr/>
        </p:nvSpPr>
        <p:spPr>
          <a:xfrm>
            <a:off x="0" y="6615113"/>
            <a:ext cx="12192000" cy="230504"/>
          </a:xfrm>
          <a:custGeom>
            <a:avLst/>
            <a:gdLst/>
            <a:ahLst/>
            <a:cxnLst/>
            <a:rect l="l" t="t" r="r" b="b"/>
            <a:pathLst>
              <a:path w="12192000" h="230504">
                <a:moveTo>
                  <a:pt x="12191999" y="230186"/>
                </a:moveTo>
                <a:lnTo>
                  <a:pt x="0" y="23018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3018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6" name="object 3"/>
          <p:cNvSpPr txBox="1"/>
          <p:nvPr/>
        </p:nvSpPr>
        <p:spPr>
          <a:xfrm>
            <a:off x="73025" y="6619971"/>
            <a:ext cx="8026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sz="12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37" name="object 4"/>
          <p:cNvSpPr txBox="1"/>
          <p:nvPr/>
        </p:nvSpPr>
        <p:spPr>
          <a:xfrm>
            <a:off x="6686575" y="6619971"/>
            <a:ext cx="9626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2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76" name="object 5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3473" y="174676"/>
            <a:ext cx="1133474" cy="1200149"/>
          </a:xfrm>
          <a:prstGeom prst="rect">
            <a:avLst/>
          </a:prstGeom>
        </p:spPr>
      </p:pic>
      <p:sp>
        <p:nvSpPr>
          <p:cNvPr id="1048638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863686" y="2344396"/>
            <a:ext cx="2529205" cy="1092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Q</a:t>
            </a:r>
            <a:r>
              <a:rPr sz="7200" b="1" spc="-4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2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7200" b="1" spc="-3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200" b="1" spc="-5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A</a:t>
            </a:r>
            <a:endParaRPr sz="7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object 2"/>
          <p:cNvSpPr/>
          <p:nvPr/>
        </p:nvSpPr>
        <p:spPr>
          <a:xfrm>
            <a:off x="0" y="6615113"/>
            <a:ext cx="12192000" cy="230504"/>
          </a:xfrm>
          <a:custGeom>
            <a:avLst/>
            <a:gdLst/>
            <a:ahLst/>
            <a:cxnLst/>
            <a:rect l="l" t="t" r="r" b="b"/>
            <a:pathLst>
              <a:path w="12192000" h="230504">
                <a:moveTo>
                  <a:pt x="12191999" y="230186"/>
                </a:moveTo>
                <a:lnTo>
                  <a:pt x="0" y="23018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3018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40" name="object 3"/>
          <p:cNvSpPr txBox="1"/>
          <p:nvPr/>
        </p:nvSpPr>
        <p:spPr>
          <a:xfrm>
            <a:off x="73025" y="6619971"/>
            <a:ext cx="8026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sz="12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41" name="object 4"/>
          <p:cNvSpPr txBox="1"/>
          <p:nvPr/>
        </p:nvSpPr>
        <p:spPr>
          <a:xfrm>
            <a:off x="6686575" y="6619971"/>
            <a:ext cx="9626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2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77" name="object 5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3473" y="174676"/>
            <a:ext cx="1133474" cy="1200149"/>
          </a:xfrm>
          <a:prstGeom prst="rect">
            <a:avLst/>
          </a:prstGeom>
        </p:spPr>
      </p:pic>
      <p:sp>
        <p:nvSpPr>
          <p:cNvPr id="1048642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068555" y="2304641"/>
            <a:ext cx="2717800" cy="217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200" b="1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Thank </a:t>
            </a:r>
            <a:r>
              <a:rPr sz="7200" b="1" spc="-37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7200" b="1" spc="15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ou</a:t>
            </a:r>
            <a:endParaRPr sz="7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Index</vt:lpstr>
      <vt:lpstr>Company Introduction</vt:lpstr>
      <vt:lpstr>PowerPoint Presentation</vt:lpstr>
      <vt:lpstr>Technology Stack Used</vt:lpstr>
      <vt:lpstr>Goal Of Training</vt:lpstr>
      <vt:lpstr>App Review Overview</vt:lpstr>
      <vt:lpstr>REVIEW SECTION</vt:lpstr>
      <vt:lpstr>REVIEW SECTION</vt:lpstr>
      <vt:lpstr>REVIEW SECTION</vt:lpstr>
      <vt:lpstr>PowerPoint Presentation</vt:lpstr>
      <vt:lpstr>PowerPoint Presentation</vt:lpstr>
      <vt:lpstr>AI CHATBOT</vt:lpstr>
      <vt:lpstr>AI CHATBOT</vt:lpstr>
      <vt:lpstr>UPLOAD DATASET</vt:lpstr>
      <vt:lpstr>PowerPoint Presentation</vt:lpstr>
      <vt:lpstr>DATASET INVENTORY</vt:lpstr>
      <vt:lpstr>UPLOAD AND INGEST DATASET</vt:lpstr>
      <vt:lpstr>RELEASE NOTES</vt:lpstr>
      <vt:lpstr>API TESTING</vt:lpstr>
      <vt:lpstr>Future Scope</vt:lpstr>
      <vt:lpstr>Q &amp; 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Sample_PPT.pptx</dc:title>
  <dc:creator>SM-G781B</dc:creator>
  <cp:lastModifiedBy>Mahak Kataria</cp:lastModifiedBy>
  <cp:revision>1</cp:revision>
  <dcterms:created xsi:type="dcterms:W3CDTF">2026-07-27T17:38:00Z</dcterms:created>
  <dcterms:modified xsi:type="dcterms:W3CDTF">2026-08-25T03:49:16Z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2026-07-28T11:00:00Z</vt:filetime>
  </property>
  <property fmtid="{D5CDD505-2E9C-101B-9397-08002B2CF9AE}" pid="4" name="Creator">
    <vt:lpwstr>Google</vt:lpwstr>
  </property>
  <property fmtid="{D5CDD505-2E9C-101B-9397-08002B2CF9AE}" pid="5" name="LastSaved">
    <vt:filetime>2026-07-28T11:00:00Z</vt:filetime>
  </property>
  <property fmtid="{D5CDD505-2E9C-101B-9397-08002B2CF9AE}" pid="6" name="KSOProductBuildVer">
    <vt:lpwstr>1033-12.1.0.27458</vt:lpwstr>
  </property>
  <property fmtid="{D5CDD505-2E9C-101B-9397-08002B2CF9AE}" pid="7" name="ICV">
    <vt:lpwstr>c2ba41877c0a48e39740030fcf22fa4a_23</vt:lpwstr>
  </property>
</Properties>
</file>