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1.png"/><Relationship Id="rId5" Type="http://schemas.openxmlformats.org/officeDocument/2006/relationships/image" Target="../media/image-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1335024"/>
            <a:ext cx="0" cy="896112"/>
          </a:xfrm>
          <a:prstGeom prst="line">
            <a:avLst/>
          </a:prstGeom>
          <a:noFill/>
          <a:ln w="25400">
            <a:solidFill>
              <a:srgbClr val="1E3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61320" y="2523744"/>
            <a:ext cx="0" cy="896112"/>
          </a:xfrm>
          <a:prstGeom prst="line">
            <a:avLst/>
          </a:prstGeom>
          <a:noFill/>
          <a:ln w="25400">
            <a:solidFill>
              <a:srgbClr val="1E3A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3712464"/>
            <a:ext cx="0" cy="896112"/>
          </a:xfrm>
          <a:prstGeom prst="line">
            <a:avLst/>
          </a:prstGeom>
          <a:noFill/>
          <a:ln w="25400">
            <a:solidFill>
              <a:srgbClr val="1E3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4901184"/>
            <a:ext cx="0" cy="804672"/>
          </a:xfrm>
          <a:prstGeom prst="line">
            <a:avLst/>
          </a:prstGeom>
          <a:noFill/>
          <a:ln w="25400">
            <a:solidFill>
              <a:srgbClr val="1E3A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15016" y="1188720"/>
            <a:ext cx="292608" cy="292608"/>
          </a:xfrm>
          <a:prstGeom prst="ellipse">
            <a:avLst/>
          </a:prstGeom>
          <a:solidFill>
            <a:srgbClr val="00A896"/>
          </a:solidFill>
          <a:ln w="38100">
            <a:solidFill>
              <a:srgbClr val="0B1F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15016" y="2377440"/>
            <a:ext cx="292608" cy="292608"/>
          </a:xfrm>
          <a:prstGeom prst="ellipse">
            <a:avLst/>
          </a:prstGeom>
          <a:solidFill>
            <a:srgbClr val="F4A261"/>
          </a:solidFill>
          <a:ln w="38100">
            <a:solidFill>
              <a:srgbClr val="0B1F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15016" y="3566160"/>
            <a:ext cx="292608" cy="292608"/>
          </a:xfrm>
          <a:prstGeom prst="ellipse">
            <a:avLst/>
          </a:prstGeom>
          <a:solidFill>
            <a:srgbClr val="00A896"/>
          </a:solidFill>
          <a:ln w="38100">
            <a:solidFill>
              <a:srgbClr val="0B1F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15016" y="4754880"/>
            <a:ext cx="292608" cy="292608"/>
          </a:xfrm>
          <a:prstGeom prst="ellipse">
            <a:avLst/>
          </a:prstGeom>
          <a:solidFill>
            <a:srgbClr val="F4A261"/>
          </a:solidFill>
          <a:ln w="38100">
            <a:solidFill>
              <a:srgbClr val="0B1F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15016" y="5852160"/>
            <a:ext cx="292608" cy="292608"/>
          </a:xfrm>
          <a:prstGeom prst="ellipse">
            <a:avLst/>
          </a:prstGeom>
          <a:solidFill>
            <a:srgbClr val="00A896"/>
          </a:solidFill>
          <a:ln w="381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1874520"/>
            <a:ext cx="8961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Tools with DevOps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Designing, automating, and scaling the tools that power modern software delivery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4251960"/>
            <a:ext cx="128016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526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  </a:t>
            </a:r>
            <a:pPr indent="0" marL="0">
              <a:buNone/>
            </a:pPr>
            <a:r>
              <a:rPr lang="en-US" sz="1300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spc="100" kern="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  </a:t>
            </a:r>
            <a:pPr indent="0" marL="0">
              <a:buNone/>
            </a:pPr>
            <a:r>
              <a:rPr lang="en-US" sz="1300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spc="100" kern="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 </a:t>
            </a:r>
            <a:pPr indent="0" marL="0">
              <a:buNone/>
            </a:pPr>
            <a:r>
              <a:rPr lang="en-US" sz="1300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spc="100" kern="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  </a:t>
            </a:r>
            <a:pPr indent="0" marL="0">
              <a:buNone/>
            </a:pPr>
            <a:r>
              <a:rPr lang="en-US" sz="1300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spc="100" kern="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  </a:t>
            </a:r>
            <a:pPr indent="0" marL="0">
              <a:buNone/>
            </a:pPr>
            <a:r>
              <a:rPr lang="en-US" sz="1300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spc="100" kern="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Engineering &amp; Platform Teams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DevOps, Really?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culture of collaboration — expressed through tools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unifies software development (Dev) and IT operations (Ops) into one continuous, collaborative practice. It replaces siloed handoffs with shared ownership across the entire software lifecycle — from the first commit to production monitoring.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devops_ppt/icon_sync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3359277"/>
            <a:ext cx="276606" cy="2766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32278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353872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delivery, and feedback loops run constantly, not in batches.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/home/claude/devops_ppt/icon_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" y="431939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41879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449884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QA, security, and Ops share goals, metrics, and responsibility.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51663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2" descr="/home/claude/devops_ppt/icon_tool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5279517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4440" y="51480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Tool-Driven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234440" y="545896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tools turn DevOps principles into repeatable daily practice.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178040" y="1645920"/>
            <a:ext cx="3749040" cy="374904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18" name="Shape 13"/>
          <p:cNvSpPr/>
          <p:nvPr/>
        </p:nvSpPr>
        <p:spPr>
          <a:xfrm>
            <a:off x="8759952" y="1856232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3" descr="/home/claude/devops_ppt/icon_diagram_0B1F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1626" y="1987906"/>
            <a:ext cx="321869" cy="32186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832312" y="2372653"/>
            <a:ext cx="585216" cy="585216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1" name="Image 4" descr="/home/claude/devops_ppt/icon_code_0B1F3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3986" y="2504327"/>
            <a:ext cx="321869" cy="321869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0097163" y="3533042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5" descr="/home/claude/devops_ppt/icon_hammer_0B1F3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8837" y="3664715"/>
            <a:ext cx="321869" cy="321869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355067" y="4463601"/>
            <a:ext cx="585216" cy="585216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5" name="Image 6" descr="/home/claude/devops_ppt/icon_vial_0B1F3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6741" y="4595274"/>
            <a:ext cx="321869" cy="321869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164837" y="4463601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7" name="Image 7" descr="/home/claude/devops_ppt/icon_rocket_0B1F3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6511" y="4595274"/>
            <a:ext cx="321869" cy="321869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7422741" y="3533042"/>
            <a:ext cx="585216" cy="585216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9" name="Image 8" descr="/home/claude/devops_ppt/icon_server_0B1F3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4414" y="3664715"/>
            <a:ext cx="321869" cy="321869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7687592" y="2372653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1" name="Image 9" descr="/home/claude/devops_ppt/icon_chart_0B1F33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9266" y="2504327"/>
            <a:ext cx="321869" cy="321869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8366760" y="3108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</a:t>
            </a:r>
            <a:endParaRPr lang="en-US" sz="1500" dirty="0"/>
          </a:p>
        </p:txBody>
      </p:sp>
      <p:sp>
        <p:nvSpPr>
          <p:cNvPr id="33" name="Text 21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TOOLS WITH DEVOPS</a:t>
            </a:r>
            <a:endParaRPr lang="en-US" sz="900" dirty="0"/>
          </a:p>
        </p:txBody>
      </p:sp>
      <p:sp>
        <p:nvSpPr>
          <p:cNvPr id="34" name="Text 22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Build Custom DevOps Tools?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platforms cover the basics — but every engineering org hits gaps only custom tooling can close.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32A4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devops_ppt/icon_cubes_0B1F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1145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06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Your Stack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26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together legacy systems, in-house services, and niche vendors that generic platforms don't integrate.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32A45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0116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devops_ppt/icon_sync_0B1F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590" y="21145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606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Toil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926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repetitive, manual steps engineers currently do by hand between commit and deploy.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0" y="17830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32A45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0116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devops_ppt/icon_chart_0B1F3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1070" y="21145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8200" y="2606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Right Signals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2926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dashboards and alerts tuned to the metrics that matter for your product, not a vendor's defaults.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32A45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devops_ppt/icon_shield_0B1F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" y="430911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800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Your Standards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1206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security, compliance, and review policy directly into pipelines instead of relying on manual gatekeeping.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3977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32A45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42062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6" name="Image 4" descr="/home/claude/devops_ppt/icon_cogs_0B1F3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590" y="430911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17720" y="4800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Efficiently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51206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tools handle your team's exact scale and workflows, avoiding paid-tier bloat.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29600" y="3977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32A45"/>
          </a:solidFill>
          <a:ln/>
        </p:spPr>
      </p:sp>
      <p:sp>
        <p:nvSpPr>
          <p:cNvPr id="30" name="Shape 23"/>
          <p:cNvSpPr/>
          <p:nvPr/>
        </p:nvSpPr>
        <p:spPr>
          <a:xfrm>
            <a:off x="8458200" y="42062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5" descr="/home/claude/devops_ppt/icon_users_0B1F3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1070" y="430911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58200" y="4800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Developer Experience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458200" y="51206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tools shaped around real workflows cut friction and boost daily engineering velocity.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TOOLS WITH DEVOPS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DevOps Toolchain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of delivery has a category of tooling built to support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335024" cy="3063240"/>
          </a:xfrm>
          <a:prstGeom prst="roundRect">
            <a:avLst>
              <a:gd name="adj" fmla="val 4795"/>
            </a:avLst>
          </a:prstGeom>
          <a:solidFill>
            <a:srgbClr val="0B1F33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222199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devops_ppt/icon_diagram_0B1F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422" y="2324862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83464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3200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Backlogs &amp; roadmaps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0080" y="4462272"/>
            <a:ext cx="1152144" cy="0"/>
          </a:xfrm>
          <a:prstGeom prst="line">
            <a:avLst/>
          </a:prstGeom>
          <a:noFill/>
          <a:ln w="12700">
            <a:solidFill>
              <a:srgbClr val="2A456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4526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Linear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883664" y="3497580"/>
            <a:ext cx="123444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07108" y="1965960"/>
            <a:ext cx="1335024" cy="3063240"/>
          </a:xfrm>
          <a:prstGeom prst="roundRect">
            <a:avLst>
              <a:gd name="adj" fmla="val 4795"/>
            </a:avLst>
          </a:prstGeom>
          <a:solidFill>
            <a:srgbClr val="132A45"/>
          </a:solidFill>
          <a:ln/>
        </p:spPr>
      </p:sp>
      <p:sp>
        <p:nvSpPr>
          <p:cNvPr id="13" name="Shape 10"/>
          <p:cNvSpPr/>
          <p:nvPr/>
        </p:nvSpPr>
        <p:spPr>
          <a:xfrm>
            <a:off x="2446020" y="222199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1" descr="/home/claude/devops_ppt/icon_code_0B1F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890" y="2324862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061972" y="283464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080260" y="3200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review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098548" y="4462272"/>
            <a:ext cx="1152144" cy="0"/>
          </a:xfrm>
          <a:prstGeom prst="line">
            <a:avLst/>
          </a:prstGeom>
          <a:noFill/>
          <a:ln w="12700">
            <a:solidFill>
              <a:srgbClr val="2A456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080260" y="4526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342132" y="3497580"/>
            <a:ext cx="123444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465576" y="1965960"/>
            <a:ext cx="1335024" cy="3063240"/>
          </a:xfrm>
          <a:prstGeom prst="roundRect">
            <a:avLst>
              <a:gd name="adj" fmla="val 4795"/>
            </a:avLst>
          </a:prstGeom>
          <a:solidFill>
            <a:srgbClr val="0B1F33"/>
          </a:solidFill>
          <a:ln/>
        </p:spPr>
      </p:sp>
      <p:sp>
        <p:nvSpPr>
          <p:cNvPr id="21" name="Shape 17"/>
          <p:cNvSpPr/>
          <p:nvPr/>
        </p:nvSpPr>
        <p:spPr>
          <a:xfrm>
            <a:off x="3904488" y="222199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2" descr="/home/claude/devops_ppt/icon_hammer_0B1F3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358" y="2324862"/>
            <a:ext cx="251460" cy="2514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520440" y="283464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3538728" y="3200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&amp; package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557016" y="4462272"/>
            <a:ext cx="1152144" cy="0"/>
          </a:xfrm>
          <a:prstGeom prst="line">
            <a:avLst/>
          </a:prstGeom>
          <a:noFill/>
          <a:ln w="12700">
            <a:solidFill>
              <a:srgbClr val="2A4562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3538728" y="4526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Maven, Gradle, npm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800600" y="3497580"/>
            <a:ext cx="123444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924044" y="1965960"/>
            <a:ext cx="1335024" cy="3063240"/>
          </a:xfrm>
          <a:prstGeom prst="roundRect">
            <a:avLst>
              <a:gd name="adj" fmla="val 4795"/>
            </a:avLst>
          </a:prstGeom>
          <a:solidFill>
            <a:srgbClr val="132A45"/>
          </a:solidFill>
          <a:ln/>
        </p:spPr>
      </p:sp>
      <p:sp>
        <p:nvSpPr>
          <p:cNvPr id="29" name="Shape 24"/>
          <p:cNvSpPr/>
          <p:nvPr/>
        </p:nvSpPr>
        <p:spPr>
          <a:xfrm>
            <a:off x="5362956" y="222199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0" name="Image 3" descr="/home/claude/devops_ppt/icon_vial_0B1F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826" y="2324862"/>
            <a:ext cx="251460" cy="25146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4978908" y="283464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4997196" y="3200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QA gates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5015484" y="4462272"/>
            <a:ext cx="1152144" cy="0"/>
          </a:xfrm>
          <a:prstGeom prst="line">
            <a:avLst/>
          </a:prstGeom>
          <a:noFill/>
          <a:ln w="12700">
            <a:solidFill>
              <a:srgbClr val="2A4562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4997196" y="4526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Selenium, Jest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6259068" y="3497580"/>
            <a:ext cx="123444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6382512" y="1965960"/>
            <a:ext cx="1335024" cy="3063240"/>
          </a:xfrm>
          <a:prstGeom prst="roundRect">
            <a:avLst>
              <a:gd name="adj" fmla="val 4795"/>
            </a:avLst>
          </a:prstGeom>
          <a:solidFill>
            <a:srgbClr val="0B1F33"/>
          </a:solidFill>
          <a:ln/>
        </p:spPr>
      </p:sp>
      <p:sp>
        <p:nvSpPr>
          <p:cNvPr id="37" name="Shape 31"/>
          <p:cNvSpPr/>
          <p:nvPr/>
        </p:nvSpPr>
        <p:spPr>
          <a:xfrm>
            <a:off x="6821424" y="222199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8" name="Image 4" descr="/home/claude/devops_ppt/icon_rocket_0B1F3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4294" y="2324862"/>
            <a:ext cx="251460" cy="25146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6437376" y="283464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6455664" y="3200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6473952" y="4462272"/>
            <a:ext cx="1152144" cy="0"/>
          </a:xfrm>
          <a:prstGeom prst="line">
            <a:avLst/>
          </a:prstGeom>
          <a:noFill/>
          <a:ln w="12700">
            <a:solidFill>
              <a:srgbClr val="2A4562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6455664" y="4526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Jenkins, Actions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7717536" y="3497580"/>
            <a:ext cx="123444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7840980" y="1965960"/>
            <a:ext cx="1335024" cy="3063240"/>
          </a:xfrm>
          <a:prstGeom prst="roundRect">
            <a:avLst>
              <a:gd name="adj" fmla="val 4795"/>
            </a:avLst>
          </a:prstGeom>
          <a:solidFill>
            <a:srgbClr val="132A45"/>
          </a:solidFill>
          <a:ln/>
        </p:spPr>
      </p:sp>
      <p:sp>
        <p:nvSpPr>
          <p:cNvPr id="45" name="Shape 38"/>
          <p:cNvSpPr/>
          <p:nvPr/>
        </p:nvSpPr>
        <p:spPr>
          <a:xfrm>
            <a:off x="8279892" y="222199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6" name="Image 5" descr="/home/claude/devops_ppt/icon_cubes_0B1F3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762" y="2324862"/>
            <a:ext cx="251460" cy="251460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7895844" y="283464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48" name="Text 40"/>
          <p:cNvSpPr txBox="1"/>
          <p:nvPr/>
        </p:nvSpPr>
        <p:spPr>
          <a:xfrm>
            <a:off x="7914132" y="3200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&amp; rollout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7932420" y="4462272"/>
            <a:ext cx="1152144" cy="0"/>
          </a:xfrm>
          <a:prstGeom prst="line">
            <a:avLst/>
          </a:prstGeom>
          <a:noFill/>
          <a:ln w="12700">
            <a:solidFill>
              <a:srgbClr val="2A4562"/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7914132" y="4526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Terraform, ArgoCD</a:t>
            </a:r>
            <a:endParaRPr lang="en-US" sz="900" dirty="0"/>
          </a:p>
        </p:txBody>
      </p:sp>
      <p:sp>
        <p:nvSpPr>
          <p:cNvPr id="51" name="Shape 43"/>
          <p:cNvSpPr/>
          <p:nvPr/>
        </p:nvSpPr>
        <p:spPr>
          <a:xfrm>
            <a:off x="9176004" y="3497580"/>
            <a:ext cx="123444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9299448" y="1965960"/>
            <a:ext cx="1335024" cy="3063240"/>
          </a:xfrm>
          <a:prstGeom prst="roundRect">
            <a:avLst>
              <a:gd name="adj" fmla="val 4795"/>
            </a:avLst>
          </a:prstGeom>
          <a:solidFill>
            <a:srgbClr val="0B1F33"/>
          </a:solidFill>
          <a:ln/>
        </p:spPr>
      </p:sp>
      <p:sp>
        <p:nvSpPr>
          <p:cNvPr id="53" name="Shape 45"/>
          <p:cNvSpPr/>
          <p:nvPr/>
        </p:nvSpPr>
        <p:spPr>
          <a:xfrm>
            <a:off x="9738360" y="222199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4" name="Image 6" descr="/home/claude/devops_ppt/icon_server_0B1F3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1230" y="2324862"/>
            <a:ext cx="251460" cy="251460"/>
          </a:xfrm>
          <a:prstGeom prst="rect">
            <a:avLst/>
          </a:prstGeom>
        </p:spPr>
      </p:pic>
      <p:sp>
        <p:nvSpPr>
          <p:cNvPr id="55" name="Text 46"/>
          <p:cNvSpPr txBox="1"/>
          <p:nvPr/>
        </p:nvSpPr>
        <p:spPr>
          <a:xfrm>
            <a:off x="9354312" y="283464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300" dirty="0"/>
          </a:p>
        </p:txBody>
      </p:sp>
      <p:sp>
        <p:nvSpPr>
          <p:cNvPr id="56" name="Text 47"/>
          <p:cNvSpPr txBox="1"/>
          <p:nvPr/>
        </p:nvSpPr>
        <p:spPr>
          <a:xfrm>
            <a:off x="9372600" y="3200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management</a:t>
            </a:r>
            <a:endParaRPr lang="en-US" sz="950" dirty="0"/>
          </a:p>
        </p:txBody>
      </p:sp>
      <p:sp>
        <p:nvSpPr>
          <p:cNvPr id="57" name="Shape 48"/>
          <p:cNvSpPr/>
          <p:nvPr/>
        </p:nvSpPr>
        <p:spPr>
          <a:xfrm>
            <a:off x="9390888" y="4462272"/>
            <a:ext cx="1152144" cy="0"/>
          </a:xfrm>
          <a:prstGeom prst="line">
            <a:avLst/>
          </a:prstGeom>
          <a:noFill/>
          <a:ln w="12700">
            <a:solidFill>
              <a:srgbClr val="2A4562"/>
            </a:solidFill>
            <a:prstDash val="solid"/>
          </a:ln>
        </p:spPr>
      </p:sp>
      <p:sp>
        <p:nvSpPr>
          <p:cNvPr id="58" name="Text 49"/>
          <p:cNvSpPr txBox="1"/>
          <p:nvPr/>
        </p:nvSpPr>
        <p:spPr>
          <a:xfrm>
            <a:off x="9372600" y="4526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Kubernetes, Docker</a:t>
            </a:r>
            <a:endParaRPr lang="en-US" sz="900" dirty="0"/>
          </a:p>
        </p:txBody>
      </p:sp>
      <p:sp>
        <p:nvSpPr>
          <p:cNvPr id="59" name="Shape 50"/>
          <p:cNvSpPr/>
          <p:nvPr/>
        </p:nvSpPr>
        <p:spPr>
          <a:xfrm>
            <a:off x="10634472" y="3497580"/>
            <a:ext cx="123444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>
            <a:off x="10757916" y="1965960"/>
            <a:ext cx="1335024" cy="3063240"/>
          </a:xfrm>
          <a:prstGeom prst="roundRect">
            <a:avLst>
              <a:gd name="adj" fmla="val 4795"/>
            </a:avLst>
          </a:prstGeom>
          <a:solidFill>
            <a:srgbClr val="132A45"/>
          </a:solidFill>
          <a:ln/>
        </p:spPr>
      </p:sp>
      <p:sp>
        <p:nvSpPr>
          <p:cNvPr id="61" name="Shape 52"/>
          <p:cNvSpPr/>
          <p:nvPr/>
        </p:nvSpPr>
        <p:spPr>
          <a:xfrm>
            <a:off x="11196828" y="222199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2" name="Image 7" descr="/home/claude/devops_ppt/icon_chart_0B1F3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99698" y="2324862"/>
            <a:ext cx="251460" cy="251460"/>
          </a:xfrm>
          <a:prstGeom prst="rect">
            <a:avLst/>
          </a:prstGeom>
        </p:spPr>
      </p:pic>
      <p:sp>
        <p:nvSpPr>
          <p:cNvPr id="63" name="Text 53"/>
          <p:cNvSpPr txBox="1"/>
          <p:nvPr/>
        </p:nvSpPr>
        <p:spPr>
          <a:xfrm>
            <a:off x="10812780" y="283464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64" name="Text 54"/>
          <p:cNvSpPr txBox="1"/>
          <p:nvPr/>
        </p:nvSpPr>
        <p:spPr>
          <a:xfrm>
            <a:off x="10831068" y="3200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alerts</a:t>
            </a:r>
            <a:endParaRPr lang="en-US" sz="950" dirty="0"/>
          </a:p>
        </p:txBody>
      </p:sp>
      <p:sp>
        <p:nvSpPr>
          <p:cNvPr id="65" name="Shape 55"/>
          <p:cNvSpPr/>
          <p:nvPr/>
        </p:nvSpPr>
        <p:spPr>
          <a:xfrm>
            <a:off x="10849356" y="4462272"/>
            <a:ext cx="1152144" cy="0"/>
          </a:xfrm>
          <a:prstGeom prst="line">
            <a:avLst/>
          </a:prstGeom>
          <a:noFill/>
          <a:ln w="12700">
            <a:solidFill>
              <a:srgbClr val="2A4562"/>
            </a:solidFill>
            <a:prstDash val="solid"/>
          </a:ln>
        </p:spPr>
      </p:sp>
      <p:sp>
        <p:nvSpPr>
          <p:cNvPr id="66" name="Text 56"/>
          <p:cNvSpPr txBox="1"/>
          <p:nvPr/>
        </p:nvSpPr>
        <p:spPr>
          <a:xfrm>
            <a:off x="10831068" y="4526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Grafana</a:t>
            </a:r>
            <a:endParaRPr lang="en-US" sz="900" dirty="0"/>
          </a:p>
        </p:txBody>
      </p:sp>
      <p:sp>
        <p:nvSpPr>
          <p:cNvPr id="67" name="Text 57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TOOLS WITH DEVOPS</a:t>
            </a:r>
            <a:endParaRPr lang="en-US" sz="900" dirty="0"/>
          </a:p>
        </p:txBody>
      </p:sp>
      <p:sp>
        <p:nvSpPr>
          <p:cNvPr id="68" name="Text 58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1 — CI/CD Pipeline Tools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332720" y="4114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/home/claude/devops_ppt/icon_sync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7599" y="586359"/>
            <a:ext cx="427482" cy="4274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/ Continuous Delivery tools automatically build, test, and ship code the moment it's committed. A well-designed pipeline is the backbone of every DevOps toolchain — it turns "deploy day" into a non-event.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587752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/home/claude/devops_ppt/icon_sync_0B1F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880" y="2682392"/>
            <a:ext cx="231343" cy="2313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61188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highly extensible via 1,800+ plugins. Best for teams needing full pipeline control.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355848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84448" y="2587752"/>
            <a:ext cx="420624" cy="420624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13" name="Image 2" descr="/home/claude/devops_ppt/icon_rocket_0B1F3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088" y="2682392"/>
            <a:ext cx="231343" cy="231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84448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3584448" y="361188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to GitHub repos; YAML workflows trigger on any repository event, fast to adopt.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63056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91656" y="2587752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3" descr="/home/claude/devops_ppt/icon_sync_0B1F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296" y="2682392"/>
            <a:ext cx="231343" cy="23134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91656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CI/CD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391656" y="361188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GitLab; single platform for code, pipelines, and container registry.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8970264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198864" y="2587752"/>
            <a:ext cx="420624" cy="420624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3" name="Image 4" descr="/home/claude/devops_ppt/icon_rocket_0B1F3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3504" y="2682392"/>
            <a:ext cx="231343" cy="231343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198864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CircleCI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9198864" y="361188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 with fast parallelized builds and strong Docker-layer caching.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TOOLS WITH DEVOPS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2 — Build &amp; Dependency Tools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332720" y="45720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/home/claude/devops_ppt/icon_cogs_0B1F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7599" y="632079"/>
            <a:ext cx="427482" cy="4274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tools compile source code, resolve dependencies, and package applications into deployable artifacts — consistently, on every machine, every time. They're the layer that turns raw code into something a pipeline can actually ship.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32A45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2587752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/home/claude/devops_ppt/icon_cogs_0B1F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880" y="2682392"/>
            <a:ext cx="231343" cy="2313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61188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XML-based build automation for Java. Declarative dependency management via a central repository and a standardized project lifecycle.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355848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32A45"/>
          </a:solidFill>
          <a:ln/>
        </p:spPr>
      </p:sp>
      <p:sp>
        <p:nvSpPr>
          <p:cNvPr id="12" name="Shape 8"/>
          <p:cNvSpPr/>
          <p:nvPr/>
        </p:nvSpPr>
        <p:spPr>
          <a:xfrm>
            <a:off x="3584448" y="2587752"/>
            <a:ext cx="420624" cy="420624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13" name="Image 2" descr="/home/claude/devops_ppt/icon_hammer_0B1F3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088" y="2682392"/>
            <a:ext cx="231343" cy="231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84448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3584448" y="361188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Groovy/Kotlin DSL build tool. Incremental, cache-friendly builds make it the default for Android and modern JVM projects.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63056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32A45"/>
          </a:solidFill>
          <a:ln/>
        </p:spPr>
      </p:sp>
      <p:sp>
        <p:nvSpPr>
          <p:cNvPr id="17" name="Shape 12"/>
          <p:cNvSpPr/>
          <p:nvPr/>
        </p:nvSpPr>
        <p:spPr>
          <a:xfrm>
            <a:off x="6391656" y="2587752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3" descr="/home/claude/devops_ppt/icon_cogs_0B1F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296" y="2682392"/>
            <a:ext cx="231343" cy="23134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91656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/ Yarn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391656" y="361188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managers for the JavaScript ecosystem. Install dependencies, run scripts, and lock versions across a team.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8970264" y="2331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32A45"/>
          </a:solidFill>
          <a:ln/>
        </p:spPr>
      </p:sp>
      <p:sp>
        <p:nvSpPr>
          <p:cNvPr id="22" name="Shape 16"/>
          <p:cNvSpPr/>
          <p:nvPr/>
        </p:nvSpPr>
        <p:spPr>
          <a:xfrm>
            <a:off x="9198864" y="2587752"/>
            <a:ext cx="420624" cy="420624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3" name="Image 4" descr="/home/claude/devops_ppt/icon_hammer_0B1F3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3504" y="2682392"/>
            <a:ext cx="231343" cy="231343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198864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/ Bazel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9198864" y="361188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Language-agnostic automation. Bazel adds reproducible, cacheable builds that scale across large polyglot monorepos.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TOOLS WITH DEVOPS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3 — Infrastructure as Code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332720" y="45720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/home/claude/devops_ppt/icon_cube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7599" y="632079"/>
            <a:ext cx="427482" cy="4274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tools let teams define servers, networks, and cloud resources as version-controlled code — making infrastructure reproducible, reviewable, and disposable, rather than hand-configured.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660904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53288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cloud resources (AWS, Azure, GCP) from a single declarative config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282696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31546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infrastructure change through Git history and pull requests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904488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377647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identical dev, staging, and production environments on demand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526280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439826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back infrastructure changes as easily as reverting a code commit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75120" y="1188720"/>
            <a:ext cx="48920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03720" y="131673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6903720" y="164592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Cloud-agnostic, the industry standard for declarative provisioning.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675120" y="2496312"/>
            <a:ext cx="48920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03720" y="262432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295351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 config management; simple YAML playbooks.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675120" y="3803904"/>
            <a:ext cx="48920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03720" y="39319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Pulumi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6903720" y="426110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infrastructure using real programming languages.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675120" y="5111496"/>
            <a:ext cx="48920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03720" y="523951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CloudFormation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6903720" y="5568696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Native, deeply integrated AWS-only provisioning.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TOOLS WITH DEVOPS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4 — Containers &amp; Orchestration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332720" y="4114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/home/claude/devops_ppt/icon_dock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7030" y="605790"/>
            <a:ext cx="388620" cy="3886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430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package an application with everything it needs to run, while orchestrators manage those containers at scale — handling scheduling, scaling, networking, and self-healing automatically.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0B1F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2377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Container Stack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926080"/>
            <a:ext cx="4389120" cy="566928"/>
          </a:xfrm>
          <a:prstGeom prst="roundRect">
            <a:avLst>
              <a:gd name="adj" fmla="val 9677"/>
            </a:avLst>
          </a:prstGeom>
          <a:solidFill>
            <a:srgbClr val="02C39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05840" y="29260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Code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3611880"/>
            <a:ext cx="4389120" cy="566928"/>
          </a:xfrm>
          <a:prstGeom prst="roundRect">
            <a:avLst>
              <a:gd name="adj" fmla="val 9677"/>
            </a:avLst>
          </a:prstGeom>
          <a:solidFill>
            <a:srgbClr val="00A89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05840" y="36118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(Docker Image)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4297680"/>
            <a:ext cx="4389120" cy="566928"/>
          </a:xfrm>
          <a:prstGeom prst="roundRect">
            <a:avLst>
              <a:gd name="adj" fmla="val 9677"/>
            </a:avLst>
          </a:prstGeom>
          <a:solidFill>
            <a:srgbClr val="F4A26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05840" y="42976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(Kubernetes)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983480"/>
            <a:ext cx="4389120" cy="566928"/>
          </a:xfrm>
          <a:prstGeom prst="roundRect">
            <a:avLst>
              <a:gd name="adj" fmla="val 9677"/>
            </a:avLst>
          </a:prstGeom>
          <a:solidFill>
            <a:srgbClr val="6E839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05840" y="49834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Bare-Metal Nodes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806440" y="21488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1" descr="/home/claude/devops_ppt/icon_docker_0B1F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884" y="2272284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537960" y="213055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537960" y="24505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 facto standard for building and running containers.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806440" y="32004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2" descr="/home/claude/devops_ppt/icon_cubes_0B1F3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4" y="3323844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37960" y="31821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537960" y="350215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deployment, scaling, and management of containerized apps.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806440" y="42519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5" name="Image 3" descr="/home/claude/devops_ppt/icon_server_0B1F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84" y="437540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537960" y="423367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537960" y="45537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manager for Kubernetes — templated, reusable deployments.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TOOLS WITH DEVOPS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5 — Monitoring &amp; Observability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332720" y="411480"/>
            <a:ext cx="777240" cy="77724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4" name="Image 0" descr="/home/claude/devops_ppt/icon_ch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7599" y="586359"/>
            <a:ext cx="427482" cy="4274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430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fix what you can't see. Observability tooling collects metrics, logs, and traces so teams detect issues before users do — and diagnose root cause in minutes, not hours.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32A4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22128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Pillars: metrics,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traces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17520" y="210312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32A4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017520" y="22128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coverage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0" y="210312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32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0" y="22128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&lt;5min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562356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time to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 incident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55280" y="2103120"/>
            <a:ext cx="3703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38160" y="21762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245059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metrics collection with a powerful query language (PromQL).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955280" y="3200400"/>
            <a:ext cx="3703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38160" y="32735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8138160" y="35478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layer for dashboards across Prometheus, logs, and more.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955280" y="4297680"/>
            <a:ext cx="3703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38160" y="43708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Stack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64515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Elasticsearch, Logstash &amp; Kibana — centralized log search and analysis.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955280" y="5394960"/>
            <a:ext cx="3703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138160" y="54681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8138160" y="574243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SaaS platform for metrics, traces, logs, and APM.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397764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tools close the feedback loop back to Plan and Code — the defining trait of mature DevOps practice.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TOOLS WITH DEVOPS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for Building DevOps Tools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1572768"/>
          </a:xfrm>
          <a:prstGeom prst="roundRect">
            <a:avLst>
              <a:gd name="adj" fmla="val 4651"/>
            </a:avLst>
          </a:prstGeom>
          <a:solidFill>
            <a:srgbClr val="132A45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devops_ppt/icon_clipboard_0B1F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1713357"/>
            <a:ext cx="276606" cy="2766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3619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Workflow, Not the Tool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1284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manual process first. Automate the actual pain point, not an assumed one.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349240" cy="1572768"/>
          </a:xfrm>
          <a:prstGeom prst="roundRect">
            <a:avLst>
              <a:gd name="adj" fmla="val 4651"/>
            </a:avLst>
          </a:prstGeom>
          <a:solidFill>
            <a:srgbClr val="132A45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0" y="16002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/home/claude/devops_ppt/icon_code_0B1F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957" y="171335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40880" y="153619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Self-Service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221284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engineers use the tool without filing a ticket — CLIs, APIs, and clear docs.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108960"/>
            <a:ext cx="5349240" cy="1572768"/>
          </a:xfrm>
          <a:prstGeom prst="roundRect">
            <a:avLst>
              <a:gd name="adj" fmla="val 4651"/>
            </a:avLst>
          </a:prstGeom>
          <a:solidFill>
            <a:srgbClr val="132A45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3375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/home/claude/devops_ppt/icon_lock_0B1F3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345071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27355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Security Early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395020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secret management, access control, and scanning into the pipeline from day one.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172200" y="3108960"/>
            <a:ext cx="5349240" cy="1572768"/>
          </a:xfrm>
          <a:prstGeom prst="roundRect">
            <a:avLst>
              <a:gd name="adj" fmla="val 4651"/>
            </a:avLst>
          </a:prstGeom>
          <a:solidFill>
            <a:srgbClr val="132A45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0" y="33375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3" descr="/home/claude/devops_ppt/icon_sync_0B1F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957" y="3450717"/>
            <a:ext cx="276606" cy="27660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40880" y="327355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Idempotent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0" y="395020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tool twice should be as safe as running it once — critical for automation.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4846320"/>
            <a:ext cx="5349240" cy="1572768"/>
          </a:xfrm>
          <a:prstGeom prst="roundRect">
            <a:avLst>
              <a:gd name="adj" fmla="val 4651"/>
            </a:avLst>
          </a:prstGeom>
          <a:solidFill>
            <a:srgbClr val="132A45"/>
          </a:solidFill>
          <a:ln/>
        </p:spPr>
      </p:sp>
      <p:sp>
        <p:nvSpPr>
          <p:cNvPr id="24" name="Shape 18"/>
          <p:cNvSpPr/>
          <p:nvPr/>
        </p:nvSpPr>
        <p:spPr>
          <a:xfrm>
            <a:off x="777240" y="50749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5" name="Image 4" descr="/home/claude/devops_ppt/icon_chart_0B1F3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397" y="5188077"/>
            <a:ext cx="276606" cy="27660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17320" y="501091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Everything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777240" y="568756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 tool should emit its own metrics and logs — dogfood your observability stack.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172200" y="4846320"/>
            <a:ext cx="5349240" cy="1572768"/>
          </a:xfrm>
          <a:prstGeom prst="roundRect">
            <a:avLst>
              <a:gd name="adj" fmla="val 4651"/>
            </a:avLst>
          </a:prstGeom>
          <a:solidFill>
            <a:srgbClr val="132A45"/>
          </a:solidFill>
          <a:ln/>
        </p:spPr>
      </p:sp>
      <p:sp>
        <p:nvSpPr>
          <p:cNvPr id="29" name="Shape 22"/>
          <p:cNvSpPr/>
          <p:nvPr/>
        </p:nvSpPr>
        <p:spPr>
          <a:xfrm>
            <a:off x="6400800" y="50749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0" name="Image 5" descr="/home/claude/devops_ppt/icon_users_0B1F3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3957" y="5188077"/>
            <a:ext cx="276606" cy="27660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40880" y="501091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Internal Tools as Products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6400800" y="568756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user feedback, version releases, and maintain them like anything customer-facing.</a:t>
            </a:r>
            <a:endParaRPr lang="en-US" sz="105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TOOLS WITH DEVOPS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Challenges &amp; How to Solve Them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6878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5" name="Image 0" descr="/home/claude/devops_ppt/icon_bu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792224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1790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737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sprawl across teams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89320" y="1536192"/>
            <a:ext cx="0" cy="813816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0" y="151790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17373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shared internal catalog; standardize on a small, approved toolset.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65176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294894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13" name="Image 1" descr="/home/claude/devops_ppt/icon_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307238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54480" y="279806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554480" y="30175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gaps in automation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989320" y="2816352"/>
            <a:ext cx="0" cy="813816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7920" y="279806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6217920" y="30175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secrets management and require pipeline security scans by default.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393192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77240" y="422910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1" name="Image 2" descr="/home/claude/devops_ppt/icon_us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4352544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554480" y="407822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554480" y="4297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developer adoption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989320" y="4096512"/>
            <a:ext cx="0" cy="813816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217920" y="407822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6217920" y="42976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 tools with end users; prioritize simple onboarding and clear docs.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48640" y="521208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77240" y="550926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9" name="Image 3" descr="/home/claude/devops_ppt/icon_cog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5632704"/>
            <a:ext cx="301752" cy="30175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554480" y="535838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1554480" y="55778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burden grows over time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5989320" y="5376672"/>
            <a:ext cx="0" cy="813816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217920" y="53583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6217920" y="55778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clear ownership and treat internal tools like production software.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TOOLS WITH DEVOPS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132A4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devops_ppt/icon_sync_0B1F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691" y="1962531"/>
            <a:ext cx="326898" cy="3268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is a loop, not a phase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718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build, test, release, operate, and monitor feed back into one another continuously.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72200" y="155448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132A45"/>
          </a:solidFill>
          <a:ln/>
        </p:spPr>
      </p:sp>
      <p:sp>
        <p:nvSpPr>
          <p:cNvPr id="9" name="Shape 6"/>
          <p:cNvSpPr/>
          <p:nvPr/>
        </p:nvSpPr>
        <p:spPr>
          <a:xfrm>
            <a:off x="6446520" y="18288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/home/claude/devops_ppt/icon_tools_0B1F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251" y="1962531"/>
            <a:ext cx="326898" cy="32689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46520" y="25603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codify culture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29718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tooling turns DevOps values — automation, collaboration, ownership — into daily habit.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7947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132A45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2" descr="/home/claude/devops_ppt/icon_cubes_0B1F3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91" y="4202811"/>
            <a:ext cx="326898" cy="32689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" y="48006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every category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5212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tools, CI/CD, IaC, containers, and observability together form a complete toolchain.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72200" y="37947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132A45"/>
          </a:solidFill>
          <a:ln/>
        </p:spPr>
      </p:sp>
      <p:sp>
        <p:nvSpPr>
          <p:cNvPr id="19" name="Shape 14"/>
          <p:cNvSpPr/>
          <p:nvPr/>
        </p:nvSpPr>
        <p:spPr>
          <a:xfrm>
            <a:off x="6446520" y="40690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3" descr="/home/claude/devops_ppt/icon_users_0B1F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251" y="4202811"/>
            <a:ext cx="326898" cy="32689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46520" y="48006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tools like products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46520" y="5212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tools succeed when they're designed for the people who use them every day.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TOOLS WITH DEVOPS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1335024"/>
            <a:ext cx="0" cy="896112"/>
          </a:xfrm>
          <a:prstGeom prst="line">
            <a:avLst/>
          </a:prstGeom>
          <a:noFill/>
          <a:ln w="25400">
            <a:solidFill>
              <a:srgbClr val="1E3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61320" y="2523744"/>
            <a:ext cx="0" cy="896112"/>
          </a:xfrm>
          <a:prstGeom prst="line">
            <a:avLst/>
          </a:prstGeom>
          <a:noFill/>
          <a:ln w="25400">
            <a:solidFill>
              <a:srgbClr val="1E3A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3712464"/>
            <a:ext cx="0" cy="896112"/>
          </a:xfrm>
          <a:prstGeom prst="line">
            <a:avLst/>
          </a:prstGeom>
          <a:noFill/>
          <a:ln w="25400">
            <a:solidFill>
              <a:srgbClr val="1E3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4901184"/>
            <a:ext cx="0" cy="804672"/>
          </a:xfrm>
          <a:prstGeom prst="line">
            <a:avLst/>
          </a:prstGeom>
          <a:noFill/>
          <a:ln w="25400">
            <a:solidFill>
              <a:srgbClr val="1E3A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15016" y="1188720"/>
            <a:ext cx="292608" cy="292608"/>
          </a:xfrm>
          <a:prstGeom prst="ellipse">
            <a:avLst/>
          </a:prstGeom>
          <a:solidFill>
            <a:srgbClr val="00A896"/>
          </a:solidFill>
          <a:ln w="38100">
            <a:solidFill>
              <a:srgbClr val="0B1F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15016" y="2377440"/>
            <a:ext cx="292608" cy="292608"/>
          </a:xfrm>
          <a:prstGeom prst="ellipse">
            <a:avLst/>
          </a:prstGeom>
          <a:solidFill>
            <a:srgbClr val="F4A261"/>
          </a:solidFill>
          <a:ln w="38100">
            <a:solidFill>
              <a:srgbClr val="0B1F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15016" y="3566160"/>
            <a:ext cx="292608" cy="292608"/>
          </a:xfrm>
          <a:prstGeom prst="ellipse">
            <a:avLst/>
          </a:prstGeom>
          <a:solidFill>
            <a:srgbClr val="00A896"/>
          </a:solidFill>
          <a:ln w="38100">
            <a:solidFill>
              <a:srgbClr val="0B1F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15016" y="4754880"/>
            <a:ext cx="292608" cy="292608"/>
          </a:xfrm>
          <a:prstGeom prst="ellipse">
            <a:avLst/>
          </a:prstGeom>
          <a:solidFill>
            <a:srgbClr val="F4A261"/>
          </a:solidFill>
          <a:ln w="38100">
            <a:solidFill>
              <a:srgbClr val="0B1F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15016" y="5852160"/>
            <a:ext cx="292608" cy="292608"/>
          </a:xfrm>
          <a:prstGeom prst="ellipse">
            <a:avLst/>
          </a:prstGeom>
          <a:solidFill>
            <a:srgbClr val="00A896"/>
          </a:solidFill>
          <a:ln w="381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246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tools that make great engineering the path of least resistance.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977640"/>
            <a:ext cx="128016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2026-09-13T18:13:48Z</dcterms:created>
  <dcterms:modified xsi:type="dcterms:W3CDTF">2026-09-13T18:13:48Z</dcterms:modified>
</cp:coreProperties>
</file>